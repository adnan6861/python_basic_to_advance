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8229600" cx="14630400"/>
  <p:notesSz cx="8229600" cy="14630400"/>
  <p:embeddedFontLst>
    <p:embeddedFont>
      <p:font typeface="Platypi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PlatypiMedium-regular.fntdata"/><Relationship Id="rId25" Type="http://schemas.openxmlformats.org/officeDocument/2006/relationships/slide" Target="slides/slide20.xml"/><Relationship Id="rId28" Type="http://schemas.openxmlformats.org/officeDocument/2006/relationships/font" Target="fonts/PlatypiMedium-italic.fntdata"/><Relationship Id="rId27" Type="http://schemas.openxmlformats.org/officeDocument/2006/relationships/font" Target="fonts/Platypi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typi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16a65cdc9_0_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g3616a65cdc9_0_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616a65cdc9_0_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16a65cdc9_4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616a65cdc9_4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616a65cdc9_4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5.png"/><Relationship Id="rId8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44.png"/><Relationship Id="rId7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36.png"/><Relationship Id="rId5" Type="http://schemas.openxmlformats.org/officeDocument/2006/relationships/image" Target="../media/image24.png"/><Relationship Id="rId6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21.png"/><Relationship Id="rId7" Type="http://schemas.openxmlformats.org/officeDocument/2006/relationships/image" Target="../media/image48.png"/><Relationship Id="rId8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3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Relationship Id="rId6" Type="http://schemas.openxmlformats.org/officeDocument/2006/relationships/image" Target="../media/image3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image" Target="../media/image53.png"/><Relationship Id="rId5" Type="http://schemas.openxmlformats.org/officeDocument/2006/relationships/image" Target="../media/image49.png"/><Relationship Id="rId6" Type="http://schemas.openxmlformats.org/officeDocument/2006/relationships/image" Target="../media/image15.png"/><Relationship Id="rId7" Type="http://schemas.openxmlformats.org/officeDocument/2006/relationships/image" Target="../media/image37.png"/><Relationship Id="rId8" Type="http://schemas.openxmlformats.org/officeDocument/2006/relationships/image" Target="../media/image4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Relationship Id="rId4" Type="http://schemas.openxmlformats.org/officeDocument/2006/relationships/image" Target="../media/image39.png"/><Relationship Id="rId5" Type="http://schemas.openxmlformats.org/officeDocument/2006/relationships/image" Target="../media/image42.png"/><Relationship Id="rId6" Type="http://schemas.openxmlformats.org/officeDocument/2006/relationships/image" Target="../media/image15.png"/><Relationship Id="rId7" Type="http://schemas.openxmlformats.org/officeDocument/2006/relationships/image" Target="../media/image5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1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54.png"/><Relationship Id="rId5" Type="http://schemas.openxmlformats.org/officeDocument/2006/relationships/image" Target="../media/image45.png"/><Relationship Id="rId6" Type="http://schemas.openxmlformats.org/officeDocument/2006/relationships/image" Target="../media/image59.jpg"/><Relationship Id="rId7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6.png"/><Relationship Id="rId4" Type="http://schemas.openxmlformats.org/officeDocument/2006/relationships/image" Target="../media/image51.jpg"/><Relationship Id="rId5" Type="http://schemas.openxmlformats.org/officeDocument/2006/relationships/image" Target="../media/image52.png"/><Relationship Id="rId6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5.png"/><Relationship Id="rId5" Type="http://schemas.openxmlformats.org/officeDocument/2006/relationships/image" Target="../media/image57.pn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26" title="Untitled-design-1.jpg"/>
          <p:cNvPicPr preferRelativeResize="0"/>
          <p:nvPr/>
        </p:nvPicPr>
        <p:blipFill rotWithShape="1">
          <a:blip r:embed="rId3">
            <a:alphaModFix/>
          </a:blip>
          <a:srcRect b="0" l="27778" r="27778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6"/>
          <p:cNvSpPr/>
          <p:nvPr/>
        </p:nvSpPr>
        <p:spPr>
          <a:xfrm>
            <a:off x="6297968" y="2452425"/>
            <a:ext cx="7483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Python Programming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6"/>
          <p:cNvSpPr/>
          <p:nvPr/>
        </p:nvSpPr>
        <p:spPr>
          <a:xfrm>
            <a:off x="6297968" y="3501367"/>
            <a:ext cx="6534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50"/>
              <a:buFont typeface="Platypi Medium"/>
              <a:buNone/>
            </a:pPr>
            <a:r>
              <a:rPr b="0" i="0" lang="en-US" sz="35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2</a:t>
            </a:r>
            <a:r>
              <a:rPr lang="en-US" sz="35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r>
              <a:rPr b="0" i="0" lang="en-US" sz="35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: </a:t>
            </a:r>
            <a:r>
              <a:rPr lang="en-US" sz="35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HTTP Methods</a:t>
            </a:r>
            <a:endParaRPr sz="355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50"/>
              <a:buFont typeface="Platypi Medium"/>
              <a:buNone/>
            </a:pPr>
            <a:r>
              <a:t/>
            </a:r>
            <a:endParaRPr sz="355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pic>
        <p:nvPicPr>
          <p:cNvPr descr="preencoded.png" id="80" name="Google Shape;8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7977" y="4988903"/>
            <a:ext cx="1737989" cy="1737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5843640" y="844573"/>
            <a:ext cx="7556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The Problem with Large-Scale APIs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7"/>
          <p:cNvSpPr/>
          <p:nvPr/>
        </p:nvSpPr>
        <p:spPr>
          <a:xfrm>
            <a:off x="5843640" y="2602293"/>
            <a:ext cx="3664800" cy="3249000"/>
          </a:xfrm>
          <a:prstGeom prst="roundRect">
            <a:avLst>
              <a:gd fmla="val 104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7"/>
          <p:cNvSpPr/>
          <p:nvPr/>
        </p:nvSpPr>
        <p:spPr>
          <a:xfrm>
            <a:off x="6070454" y="2829106"/>
            <a:ext cx="32112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Single File Management Issues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7"/>
          <p:cNvSpPr/>
          <p:nvPr/>
        </p:nvSpPr>
        <p:spPr>
          <a:xfrm>
            <a:off x="6070454" y="3673856"/>
            <a:ext cx="32112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Having hundreds of API endpoints in one file is unmanageable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7"/>
          <p:cNvSpPr/>
          <p:nvPr/>
        </p:nvSpPr>
        <p:spPr>
          <a:xfrm>
            <a:off x="6070454" y="4898651"/>
            <a:ext cx="3211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Difficulty in organizing and maintaining the code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7"/>
          <p:cNvSpPr/>
          <p:nvPr/>
        </p:nvSpPr>
        <p:spPr>
          <a:xfrm>
            <a:off x="9735317" y="2602293"/>
            <a:ext cx="3664800" cy="3249000"/>
          </a:xfrm>
          <a:prstGeom prst="roundRect">
            <a:avLst>
              <a:gd fmla="val 104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7"/>
          <p:cNvSpPr/>
          <p:nvPr/>
        </p:nvSpPr>
        <p:spPr>
          <a:xfrm>
            <a:off x="9962131" y="282910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 Analogy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7"/>
          <p:cNvSpPr/>
          <p:nvPr/>
        </p:nvSpPr>
        <p:spPr>
          <a:xfrm>
            <a:off x="9962131" y="3319525"/>
            <a:ext cx="3211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Imagine a departmental store with all products piled together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7"/>
          <p:cNvSpPr/>
          <p:nvPr/>
        </p:nvSpPr>
        <p:spPr>
          <a:xfrm>
            <a:off x="5843640" y="6078085"/>
            <a:ext cx="7556400" cy="1306800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7"/>
          <p:cNvSpPr/>
          <p:nvPr/>
        </p:nvSpPr>
        <p:spPr>
          <a:xfrm>
            <a:off x="6070454" y="6304899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Solution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7"/>
          <p:cNvSpPr/>
          <p:nvPr/>
        </p:nvSpPr>
        <p:spPr>
          <a:xfrm>
            <a:off x="6070454" y="6795316"/>
            <a:ext cx="710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routers to divide the APIs into manageable sections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7" title="ChatGPT Image Jun 5, 2025, 04_39_2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solidFill>
            <a:srgbClr val="F9F7F7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/>
          <p:nvPr/>
        </p:nvSpPr>
        <p:spPr>
          <a:xfrm>
            <a:off x="978640" y="1646992"/>
            <a:ext cx="7556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Organizing APIs with Routers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8"/>
          <p:cNvSpPr/>
          <p:nvPr/>
        </p:nvSpPr>
        <p:spPr>
          <a:xfrm>
            <a:off x="978640" y="3404711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710" y="344721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8"/>
          <p:cNvSpPr/>
          <p:nvPr/>
        </p:nvSpPr>
        <p:spPr>
          <a:xfrm>
            <a:off x="1715756" y="348257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The Router Analogy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8"/>
          <p:cNvSpPr/>
          <p:nvPr/>
        </p:nvSpPr>
        <p:spPr>
          <a:xfrm>
            <a:off x="1715756" y="3972997"/>
            <a:ext cx="68193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Think of routers like sections in a departmental store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8"/>
          <p:cNvSpPr/>
          <p:nvPr/>
        </p:nvSpPr>
        <p:spPr>
          <a:xfrm>
            <a:off x="1715756" y="4471988"/>
            <a:ext cx="68193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Instead of browsing through piles of items, routers guide you directly to specific sections (APIs)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8"/>
          <p:cNvSpPr/>
          <p:nvPr/>
        </p:nvSpPr>
        <p:spPr>
          <a:xfrm>
            <a:off x="978640" y="5651421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3710" y="569392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8"/>
          <p:cNvSpPr/>
          <p:nvPr/>
        </p:nvSpPr>
        <p:spPr>
          <a:xfrm>
            <a:off x="1715756" y="572928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 Benefit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8"/>
          <p:cNvSpPr/>
          <p:nvPr/>
        </p:nvSpPr>
        <p:spPr>
          <a:xfrm>
            <a:off x="1715756" y="6219706"/>
            <a:ext cx="68193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Better organization and smoother management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69690" y="-1"/>
            <a:ext cx="5760711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6" name="Google Shape;11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/>
          <p:nvPr/>
        </p:nvSpPr>
        <p:spPr>
          <a:xfrm>
            <a:off x="793790" y="2455545"/>
            <a:ext cx="638698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Are API Routers?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9"/>
          <p:cNvSpPr/>
          <p:nvPr/>
        </p:nvSpPr>
        <p:spPr>
          <a:xfrm>
            <a:off x="793790" y="361795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366045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/>
          <p:nvPr/>
        </p:nvSpPr>
        <p:spPr>
          <a:xfrm>
            <a:off x="1530906" y="3695819"/>
            <a:ext cx="293405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Definition of Routers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9"/>
          <p:cNvSpPr/>
          <p:nvPr/>
        </p:nvSpPr>
        <p:spPr>
          <a:xfrm>
            <a:off x="1530906" y="4186238"/>
            <a:ext cx="342149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 FastAPI, routers allow you to group related endpoints together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9"/>
          <p:cNvSpPr/>
          <p:nvPr/>
        </p:nvSpPr>
        <p:spPr>
          <a:xfrm>
            <a:off x="5235893" y="361795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963" y="366045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9"/>
          <p:cNvSpPr/>
          <p:nvPr/>
        </p:nvSpPr>
        <p:spPr>
          <a:xfrm>
            <a:off x="5973008" y="369581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Why Routers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9"/>
          <p:cNvSpPr/>
          <p:nvPr/>
        </p:nvSpPr>
        <p:spPr>
          <a:xfrm>
            <a:off x="5973008" y="4186238"/>
            <a:ext cx="342149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Organize your code into logical modules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9"/>
          <p:cNvSpPr/>
          <p:nvPr/>
        </p:nvSpPr>
        <p:spPr>
          <a:xfrm>
            <a:off x="5973008" y="5048131"/>
            <a:ext cx="342149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Improve scalability and maintainability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9"/>
          <p:cNvSpPr/>
          <p:nvPr/>
        </p:nvSpPr>
        <p:spPr>
          <a:xfrm>
            <a:off x="9677995" y="361795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3065" y="366045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9"/>
          <p:cNvSpPr/>
          <p:nvPr/>
        </p:nvSpPr>
        <p:spPr>
          <a:xfrm>
            <a:off x="10415111" y="369581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Implementation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9"/>
          <p:cNvSpPr/>
          <p:nvPr/>
        </p:nvSpPr>
        <p:spPr>
          <a:xfrm>
            <a:off x="10415111" y="4186238"/>
            <a:ext cx="342149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 a router instance and define specific routes for each group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/>
          <p:nvPr/>
        </p:nvSpPr>
        <p:spPr>
          <a:xfrm>
            <a:off x="793735" y="2226059"/>
            <a:ext cx="7153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The FastAPI Router Setup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0"/>
          <p:cNvSpPr/>
          <p:nvPr/>
        </p:nvSpPr>
        <p:spPr>
          <a:xfrm>
            <a:off x="793736" y="3274999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0"/>
          <p:cNvSpPr/>
          <p:nvPr/>
        </p:nvSpPr>
        <p:spPr>
          <a:xfrm>
            <a:off x="878806" y="3317505"/>
            <a:ext cx="3402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lang="en-US" sz="26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0"/>
          <p:cNvSpPr/>
          <p:nvPr/>
        </p:nvSpPr>
        <p:spPr>
          <a:xfrm>
            <a:off x="1530852" y="3352866"/>
            <a:ext cx="23109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Import APIRouter from FastAPI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0"/>
          <p:cNvSpPr/>
          <p:nvPr/>
        </p:nvSpPr>
        <p:spPr>
          <a:xfrm>
            <a:off x="1530852" y="4551945"/>
            <a:ext cx="23109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First step is to import the necessary components from the FastAPI library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0"/>
          <p:cNvSpPr/>
          <p:nvPr/>
        </p:nvSpPr>
        <p:spPr>
          <a:xfrm>
            <a:off x="4125343" y="3274999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0"/>
          <p:cNvSpPr/>
          <p:nvPr/>
        </p:nvSpPr>
        <p:spPr>
          <a:xfrm>
            <a:off x="4210413" y="3317505"/>
            <a:ext cx="3402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lang="en-US" sz="26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0"/>
          <p:cNvSpPr/>
          <p:nvPr/>
        </p:nvSpPr>
        <p:spPr>
          <a:xfrm>
            <a:off x="4862459" y="3352866"/>
            <a:ext cx="23109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Define Router Instance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0"/>
          <p:cNvSpPr/>
          <p:nvPr/>
        </p:nvSpPr>
        <p:spPr>
          <a:xfrm>
            <a:off x="4862459" y="4197615"/>
            <a:ext cx="2310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 an instance of APIRouter to organize your endpoints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0"/>
          <p:cNvSpPr/>
          <p:nvPr/>
        </p:nvSpPr>
        <p:spPr>
          <a:xfrm>
            <a:off x="7456949" y="3274999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0"/>
          <p:cNvSpPr/>
          <p:nvPr/>
        </p:nvSpPr>
        <p:spPr>
          <a:xfrm>
            <a:off x="7542020" y="3317505"/>
            <a:ext cx="3402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lang="en-US" sz="26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0"/>
          <p:cNvSpPr/>
          <p:nvPr/>
        </p:nvSpPr>
        <p:spPr>
          <a:xfrm>
            <a:off x="8194065" y="3352866"/>
            <a:ext cx="23109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Set Up Routes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0"/>
          <p:cNvSpPr/>
          <p:nvPr/>
        </p:nvSpPr>
        <p:spPr>
          <a:xfrm>
            <a:off x="8194065" y="3843285"/>
            <a:ext cx="23109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Define routes using the @router.get, @router.post decorators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0"/>
          <p:cNvSpPr/>
          <p:nvPr/>
        </p:nvSpPr>
        <p:spPr>
          <a:xfrm>
            <a:off x="10788556" y="3274999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0"/>
          <p:cNvSpPr/>
          <p:nvPr/>
        </p:nvSpPr>
        <p:spPr>
          <a:xfrm>
            <a:off x="10873626" y="3317505"/>
            <a:ext cx="3402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lang="en-US" sz="26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sz="2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0"/>
          <p:cNvSpPr/>
          <p:nvPr/>
        </p:nvSpPr>
        <p:spPr>
          <a:xfrm>
            <a:off x="11525672" y="3352866"/>
            <a:ext cx="23109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Organize by Function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0"/>
          <p:cNvSpPr/>
          <p:nvPr/>
        </p:nvSpPr>
        <p:spPr>
          <a:xfrm>
            <a:off x="11525672" y="4197615"/>
            <a:ext cx="23109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Organize APIs by function or resource (e.g., items, users, orders)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/>
          <p:nvPr/>
        </p:nvSpPr>
        <p:spPr>
          <a:xfrm>
            <a:off x="6280190" y="1502059"/>
            <a:ext cx="6962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50"/>
              <a:buFont typeface="Platypi Medium"/>
              <a:buNone/>
            </a:pPr>
            <a:r>
              <a:rPr lang="en-US" sz="35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Main Application (Main Router)</a:t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0190" y="2356961"/>
            <a:ext cx="907256" cy="108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1"/>
          <p:cNvSpPr/>
          <p:nvPr/>
        </p:nvSpPr>
        <p:spPr>
          <a:xfrm>
            <a:off x="7459623" y="2538413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lang="en-US" sz="17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Main Gate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1"/>
          <p:cNvSpPr/>
          <p:nvPr/>
        </p:nvSpPr>
        <p:spPr>
          <a:xfrm>
            <a:off x="7459623" y="2930723"/>
            <a:ext cx="637698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Acts like the main gate of a store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3445669"/>
            <a:ext cx="907256" cy="108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1"/>
          <p:cNvSpPr/>
          <p:nvPr/>
        </p:nvSpPr>
        <p:spPr>
          <a:xfrm>
            <a:off x="7459623" y="3627120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lang="en-US" sz="17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Direction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1"/>
          <p:cNvSpPr/>
          <p:nvPr/>
        </p:nvSpPr>
        <p:spPr>
          <a:xfrm>
            <a:off x="7459623" y="4019431"/>
            <a:ext cx="637698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Routes customers to the appropriate section (router) based on their request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90" y="4534376"/>
            <a:ext cx="907256" cy="108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/>
          <p:cNvSpPr/>
          <p:nvPr/>
        </p:nvSpPr>
        <p:spPr>
          <a:xfrm>
            <a:off x="7459623" y="4715828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lang="en-US" sz="17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Implementation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1"/>
          <p:cNvSpPr/>
          <p:nvPr/>
        </p:nvSpPr>
        <p:spPr>
          <a:xfrm>
            <a:off x="7459623" y="5108138"/>
            <a:ext cx="637698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app.include_router() to link the main app with specific routers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90" y="5623084"/>
            <a:ext cx="907256" cy="108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1"/>
          <p:cNvSpPr/>
          <p:nvPr/>
        </p:nvSpPr>
        <p:spPr>
          <a:xfrm>
            <a:off x="7459623" y="5804535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Platypi Medium"/>
              <a:buNone/>
            </a:pPr>
            <a:r>
              <a:rPr lang="en-US" sz="17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Result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1"/>
          <p:cNvSpPr/>
          <p:nvPr/>
        </p:nvSpPr>
        <p:spPr>
          <a:xfrm>
            <a:off x="7459623" y="6196846"/>
            <a:ext cx="637698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Allows modular design for large projects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 title="ChatGPT Image Jun 5, 2025, 04_29_01 PM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/>
          <p:nvPr/>
        </p:nvSpPr>
        <p:spPr>
          <a:xfrm>
            <a:off x="793790" y="878205"/>
            <a:ext cx="94359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50"/>
              <a:buFont typeface="Platypi Medium"/>
              <a:buNone/>
            </a:pPr>
            <a:r>
              <a:rPr b="0" i="0" lang="en-US" sz="37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Restaurant Analogy for FastAPI Routers</a:t>
            </a:r>
            <a:endParaRPr b="0" i="0" sz="3750" u="none" cap="none" strike="noStrike"/>
          </a:p>
        </p:txBody>
      </p:sp>
      <p:pic>
        <p:nvPicPr>
          <p:cNvPr descr="preencoded.png" id="186" name="Google Shape;18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1866186"/>
            <a:ext cx="5440680" cy="336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2"/>
          <p:cNvSpPr/>
          <p:nvPr/>
        </p:nvSpPr>
        <p:spPr>
          <a:xfrm>
            <a:off x="793790" y="5469731"/>
            <a:ext cx="24099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One Chef Approach</a:t>
            </a:r>
            <a:endParaRPr b="0" i="0" sz="1850" u="none" cap="none" strike="noStrike"/>
          </a:p>
        </p:txBody>
      </p:sp>
      <p:sp>
        <p:nvSpPr>
          <p:cNvPr id="188" name="Google Shape;188;p32"/>
          <p:cNvSpPr/>
          <p:nvPr/>
        </p:nvSpPr>
        <p:spPr>
          <a:xfrm>
            <a:off x="793790" y="5886569"/>
            <a:ext cx="6400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 single chef handling all orders is inefficient</a:t>
            </a:r>
            <a:endParaRPr b="0" i="0" sz="1500" u="none" cap="none" strike="noStrike"/>
          </a:p>
        </p:txBody>
      </p:sp>
      <p:sp>
        <p:nvSpPr>
          <p:cNvPr id="189" name="Google Shape;189;p32"/>
          <p:cNvSpPr/>
          <p:nvPr/>
        </p:nvSpPr>
        <p:spPr>
          <a:xfrm>
            <a:off x="793790" y="6310551"/>
            <a:ext cx="6400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Similar to having all API endpoints in one file</a:t>
            </a:r>
            <a:endParaRPr b="0" i="0" sz="1500" u="none" cap="none" strike="noStrike"/>
          </a:p>
        </p:txBody>
      </p:sp>
      <p:sp>
        <p:nvSpPr>
          <p:cNvPr id="190" name="Google Shape;190;p32"/>
          <p:cNvSpPr/>
          <p:nvPr/>
        </p:nvSpPr>
        <p:spPr>
          <a:xfrm>
            <a:off x="793790" y="6734532"/>
            <a:ext cx="6400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Leads to confusion and slower service</a:t>
            </a:r>
            <a:endParaRPr b="0" i="0" sz="1500" u="none" cap="none" strike="noStrike"/>
          </a:p>
        </p:txBody>
      </p:sp>
      <p:pic>
        <p:nvPicPr>
          <p:cNvPr descr="preencoded.png" id="191" name="Google Shape;19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5691" y="1866186"/>
            <a:ext cx="5440680" cy="336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2"/>
          <p:cNvSpPr/>
          <p:nvPr/>
        </p:nvSpPr>
        <p:spPr>
          <a:xfrm>
            <a:off x="7435691" y="5469731"/>
            <a:ext cx="29187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Multiple Chefs Approach</a:t>
            </a:r>
            <a:endParaRPr b="0" i="0" sz="1850" u="none" cap="none" strike="noStrike"/>
          </a:p>
        </p:txBody>
      </p:sp>
      <p:sp>
        <p:nvSpPr>
          <p:cNvPr id="193" name="Google Shape;193;p32"/>
          <p:cNvSpPr/>
          <p:nvPr/>
        </p:nvSpPr>
        <p:spPr>
          <a:xfrm>
            <a:off x="7435691" y="5886569"/>
            <a:ext cx="6400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Head chef and specialized assistant chefs (routers for different sections)</a:t>
            </a:r>
            <a:endParaRPr b="0" i="0" sz="1500" u="none" cap="none" strike="noStrike"/>
          </a:p>
        </p:txBody>
      </p:sp>
      <p:sp>
        <p:nvSpPr>
          <p:cNvPr id="194" name="Google Shape;194;p32"/>
          <p:cNvSpPr/>
          <p:nvPr/>
        </p:nvSpPr>
        <p:spPr>
          <a:xfrm>
            <a:off x="7435691" y="6310551"/>
            <a:ext cx="6400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Each chef handles specific types of dishes</a:t>
            </a:r>
            <a:endParaRPr b="0" i="0" sz="1500" u="none" cap="none" strike="noStrike"/>
          </a:p>
        </p:txBody>
      </p:sp>
      <p:sp>
        <p:nvSpPr>
          <p:cNvPr id="195" name="Google Shape;195;p32"/>
          <p:cNvSpPr/>
          <p:nvPr/>
        </p:nvSpPr>
        <p:spPr>
          <a:xfrm>
            <a:off x="7435691" y="6734532"/>
            <a:ext cx="64008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Faster and more organized service, similar to how routers handle API endpoints</a:t>
            </a:r>
            <a:endParaRPr b="0" i="0" sz="1500" u="none" cap="none" strike="noStrike"/>
          </a:p>
        </p:txBody>
      </p:sp>
      <p:pic>
        <p:nvPicPr>
          <p:cNvPr descr="preencoded.png" id="196" name="Google Shape;19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/>
          <p:nvPr/>
        </p:nvSpPr>
        <p:spPr>
          <a:xfrm>
            <a:off x="793790" y="2346484"/>
            <a:ext cx="825412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FastAPI Router Code Example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3"/>
          <p:cNvSpPr/>
          <p:nvPr/>
        </p:nvSpPr>
        <p:spPr>
          <a:xfrm>
            <a:off x="793790" y="350889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355139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/>
          <p:nvPr/>
        </p:nvSpPr>
        <p:spPr>
          <a:xfrm>
            <a:off x="1530906" y="3586758"/>
            <a:ext cx="231100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Define Main App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3"/>
          <p:cNvSpPr/>
          <p:nvPr/>
        </p:nvSpPr>
        <p:spPr>
          <a:xfrm>
            <a:off x="1530906" y="4431506"/>
            <a:ext cx="231100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 your main FastAPI application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3"/>
          <p:cNvSpPr/>
          <p:nvPr/>
        </p:nvSpPr>
        <p:spPr>
          <a:xfrm>
            <a:off x="4125397" y="350889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0467" y="355139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3"/>
          <p:cNvSpPr/>
          <p:nvPr/>
        </p:nvSpPr>
        <p:spPr>
          <a:xfrm>
            <a:off x="4862513" y="3586758"/>
            <a:ext cx="231100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Import Routers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3"/>
          <p:cNvSpPr/>
          <p:nvPr/>
        </p:nvSpPr>
        <p:spPr>
          <a:xfrm>
            <a:off x="4862513" y="4077176"/>
            <a:ext cx="2311003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Import router modules from different files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3"/>
          <p:cNvSpPr/>
          <p:nvPr/>
        </p:nvSpPr>
        <p:spPr>
          <a:xfrm>
            <a:off x="7457003" y="350889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074" y="355139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3"/>
          <p:cNvSpPr/>
          <p:nvPr/>
        </p:nvSpPr>
        <p:spPr>
          <a:xfrm>
            <a:off x="8194119" y="3586758"/>
            <a:ext cx="231100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Include Routers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3"/>
          <p:cNvSpPr/>
          <p:nvPr/>
        </p:nvSpPr>
        <p:spPr>
          <a:xfrm>
            <a:off x="8194119" y="4077176"/>
            <a:ext cx="231100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app.include_router(items_router, prefix="/items", tags=["items"])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3"/>
          <p:cNvSpPr/>
          <p:nvPr/>
        </p:nvSpPr>
        <p:spPr>
          <a:xfrm>
            <a:off x="10788610" y="350889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3680" y="355139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3"/>
          <p:cNvSpPr/>
          <p:nvPr/>
        </p:nvSpPr>
        <p:spPr>
          <a:xfrm>
            <a:off x="11525726" y="3586758"/>
            <a:ext cx="231100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Access Endpoints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3"/>
          <p:cNvSpPr/>
          <p:nvPr/>
        </p:nvSpPr>
        <p:spPr>
          <a:xfrm>
            <a:off x="11525726" y="4431506"/>
            <a:ext cx="2311003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/items/ endpoint will automatically route to the item-related APIs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9" name="Google Shape;219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/>
          <p:nvPr/>
        </p:nvSpPr>
        <p:spPr>
          <a:xfrm>
            <a:off x="6280190" y="138457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Breakdown of the (main_shop_app.py)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6280190" y="3142298"/>
            <a:ext cx="3664863" cy="2168843"/>
          </a:xfrm>
          <a:prstGeom prst="roundRect">
            <a:avLst>
              <a:gd fmla="val 156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4"/>
          <p:cNvSpPr/>
          <p:nvPr/>
        </p:nvSpPr>
        <p:spPr>
          <a:xfrm>
            <a:off x="6507004" y="336911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 Components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4"/>
          <p:cNvSpPr/>
          <p:nvPr/>
        </p:nvSpPr>
        <p:spPr>
          <a:xfrm>
            <a:off x="6507004" y="3859530"/>
            <a:ext cx="32112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Import FastAPI and routers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6507004" y="4358521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 an app instance and include routers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4"/>
          <p:cNvSpPr/>
          <p:nvPr/>
        </p:nvSpPr>
        <p:spPr>
          <a:xfrm>
            <a:off x="10171867" y="3142298"/>
            <a:ext cx="3664863" cy="2168843"/>
          </a:xfrm>
          <a:prstGeom prst="roundRect">
            <a:avLst>
              <a:gd fmla="val 156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4"/>
          <p:cNvSpPr/>
          <p:nvPr/>
        </p:nvSpPr>
        <p:spPr>
          <a:xfrm>
            <a:off x="10398681" y="336911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APIs in Main File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4"/>
          <p:cNvSpPr/>
          <p:nvPr/>
        </p:nvSpPr>
        <p:spPr>
          <a:xfrm>
            <a:off x="10398681" y="3859530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Basic home and about pages to introduce the app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4"/>
          <p:cNvSpPr/>
          <p:nvPr/>
        </p:nvSpPr>
        <p:spPr>
          <a:xfrm>
            <a:off x="6280190" y="5537954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4"/>
          <p:cNvSpPr/>
          <p:nvPr/>
        </p:nvSpPr>
        <p:spPr>
          <a:xfrm>
            <a:off x="6507004" y="576476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4"/>
          <p:cNvSpPr/>
          <p:nvPr/>
        </p:nvSpPr>
        <p:spPr>
          <a:xfrm>
            <a:off x="6507004" y="6255187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@app.get("/") for the home page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6" name="Google Shape;23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 title="ChatGPT Image Jun 5, 2025, 04_21_55 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/>
          <p:nvPr/>
        </p:nvSpPr>
        <p:spPr>
          <a:xfrm>
            <a:off x="878885" y="1814952"/>
            <a:ext cx="11282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Setting Up Item Router (shop_items_router.py)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5"/>
          <p:cNvSpPr/>
          <p:nvPr/>
        </p:nvSpPr>
        <p:spPr>
          <a:xfrm>
            <a:off x="793798" y="4263955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7" y="4306460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5"/>
          <p:cNvSpPr/>
          <p:nvPr/>
        </p:nvSpPr>
        <p:spPr>
          <a:xfrm>
            <a:off x="1530914" y="4341821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Item Router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5"/>
          <p:cNvSpPr/>
          <p:nvPr/>
        </p:nvSpPr>
        <p:spPr>
          <a:xfrm>
            <a:off x="1530914" y="4832240"/>
            <a:ext cx="3421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Separate file for item-related operations (GET, POST)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5"/>
          <p:cNvSpPr/>
          <p:nvPr/>
        </p:nvSpPr>
        <p:spPr>
          <a:xfrm>
            <a:off x="5235901" y="4263955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971" y="4306460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5"/>
          <p:cNvSpPr/>
          <p:nvPr/>
        </p:nvSpPr>
        <p:spPr>
          <a:xfrm>
            <a:off x="5973016" y="4341821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Code Overview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5"/>
          <p:cNvSpPr/>
          <p:nvPr/>
        </p:nvSpPr>
        <p:spPr>
          <a:xfrm>
            <a:off x="5973016" y="4832240"/>
            <a:ext cx="34215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Define a router for item operations using </a:t>
            </a:r>
            <a:r>
              <a:rPr lang="en-US" sz="175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@router.get()</a:t>
            </a: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75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@router.post()</a:t>
            </a:r>
            <a:endParaRPr sz="175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5"/>
          <p:cNvSpPr/>
          <p:nvPr/>
        </p:nvSpPr>
        <p:spPr>
          <a:xfrm>
            <a:off x="9678003" y="4263955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3073" y="4306460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5"/>
          <p:cNvSpPr/>
          <p:nvPr/>
        </p:nvSpPr>
        <p:spPr>
          <a:xfrm>
            <a:off x="10415119" y="4341821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Why Separate Files?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5"/>
          <p:cNvSpPr/>
          <p:nvPr/>
        </p:nvSpPr>
        <p:spPr>
          <a:xfrm>
            <a:off x="10415119" y="4832240"/>
            <a:ext cx="3421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Easy to manage and scale with large numbers of APIs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/>
          <p:nvPr/>
        </p:nvSpPr>
        <p:spPr>
          <a:xfrm>
            <a:off x="581736" y="2610960"/>
            <a:ext cx="12861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How Routers Are Included in Main Application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6"/>
          <p:cNvSpPr/>
          <p:nvPr/>
        </p:nvSpPr>
        <p:spPr>
          <a:xfrm>
            <a:off x="581736" y="3773367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806" y="381587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6"/>
          <p:cNvSpPr/>
          <p:nvPr/>
        </p:nvSpPr>
        <p:spPr>
          <a:xfrm>
            <a:off x="1318852" y="3851234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Import Routers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6"/>
          <p:cNvSpPr/>
          <p:nvPr/>
        </p:nvSpPr>
        <p:spPr>
          <a:xfrm>
            <a:off x="1318852" y="4341653"/>
            <a:ext cx="3421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Import router modules into main application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6"/>
          <p:cNvSpPr/>
          <p:nvPr/>
        </p:nvSpPr>
        <p:spPr>
          <a:xfrm>
            <a:off x="5023839" y="3773367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909" y="381587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/>
          <p:nvPr/>
        </p:nvSpPr>
        <p:spPr>
          <a:xfrm>
            <a:off x="5760954" y="3851234"/>
            <a:ext cx="34215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Connect with include_router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6"/>
          <p:cNvSpPr/>
          <p:nvPr/>
        </p:nvSpPr>
        <p:spPr>
          <a:xfrm>
            <a:off x="5760954" y="4695983"/>
            <a:ext cx="34215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app.include_router(items_router, prefix="/items", tags=["Shop Items"])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6"/>
          <p:cNvSpPr/>
          <p:nvPr/>
        </p:nvSpPr>
        <p:spPr>
          <a:xfrm>
            <a:off x="9465941" y="3773367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51011" y="381587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6"/>
          <p:cNvSpPr/>
          <p:nvPr/>
        </p:nvSpPr>
        <p:spPr>
          <a:xfrm>
            <a:off x="10203057" y="3851234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Access APIs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6"/>
          <p:cNvSpPr/>
          <p:nvPr/>
        </p:nvSpPr>
        <p:spPr>
          <a:xfrm>
            <a:off x="10203057" y="4341653"/>
            <a:ext cx="34215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All item-related APIs are now accessible via /items/ in the main app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5" name="Google Shape;27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/>
          <p:nvPr/>
        </p:nvSpPr>
        <p:spPr>
          <a:xfrm>
            <a:off x="962890" y="999115"/>
            <a:ext cx="7556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Exploring the items_router.py File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2" name="Google Shape;28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890" y="275683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7"/>
          <p:cNvSpPr/>
          <p:nvPr/>
        </p:nvSpPr>
        <p:spPr>
          <a:xfrm>
            <a:off x="962890" y="3550625"/>
            <a:ext cx="2839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Import Components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7"/>
          <p:cNvSpPr/>
          <p:nvPr/>
        </p:nvSpPr>
        <p:spPr>
          <a:xfrm>
            <a:off x="962890" y="4041044"/>
            <a:ext cx="36363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Import necessary components from FastAPI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5" name="Google Shape;28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2784" y="275683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7"/>
          <p:cNvSpPr/>
          <p:nvPr/>
        </p:nvSpPr>
        <p:spPr>
          <a:xfrm>
            <a:off x="4882784" y="3550625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Define Router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7"/>
          <p:cNvSpPr/>
          <p:nvPr/>
        </p:nvSpPr>
        <p:spPr>
          <a:xfrm>
            <a:off x="4882784" y="4041044"/>
            <a:ext cx="36366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Define the APIRouter() instance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8" name="Google Shape;28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890" y="5220477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7"/>
          <p:cNvSpPr/>
          <p:nvPr/>
        </p:nvSpPr>
        <p:spPr>
          <a:xfrm>
            <a:off x="962890" y="601426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Set Up Endpoints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7"/>
          <p:cNvSpPr/>
          <p:nvPr/>
        </p:nvSpPr>
        <p:spPr>
          <a:xfrm>
            <a:off x="962890" y="6504686"/>
            <a:ext cx="36363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Set up item-related endpoints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1" name="Google Shape;291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2784" y="5220477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7"/>
          <p:cNvSpPr/>
          <p:nvPr/>
        </p:nvSpPr>
        <p:spPr>
          <a:xfrm>
            <a:off x="4882784" y="601426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 Endpoint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7"/>
          <p:cNvSpPr/>
          <p:nvPr/>
        </p:nvSpPr>
        <p:spPr>
          <a:xfrm>
            <a:off x="4882784" y="6504686"/>
            <a:ext cx="3636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@router.get("/") for retrieving all items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37" title="ChatGPT Image Jun 5, 2025, 04_33_18 PM.png"/>
          <p:cNvPicPr preferRelativeResize="0"/>
          <p:nvPr/>
        </p:nvPicPr>
        <p:blipFill rotWithShape="1">
          <a:blip r:embed="rId7">
            <a:alphaModFix/>
          </a:blip>
          <a:srcRect b="0" l="39143" r="0" t="0"/>
          <a:stretch/>
        </p:blipFill>
        <p:spPr>
          <a:xfrm>
            <a:off x="9144000" y="0"/>
            <a:ext cx="5486400" cy="8229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5" name="Google Shape;295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758390" y="1634133"/>
            <a:ext cx="7556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Running the Main Shop App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8"/>
          <p:cNvSpPr/>
          <p:nvPr/>
        </p:nvSpPr>
        <p:spPr>
          <a:xfrm>
            <a:off x="758390" y="3391853"/>
            <a:ext cx="3664800" cy="1669800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8"/>
          <p:cNvSpPr/>
          <p:nvPr/>
        </p:nvSpPr>
        <p:spPr>
          <a:xfrm>
            <a:off x="985204" y="361866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How to Run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8"/>
          <p:cNvSpPr/>
          <p:nvPr/>
        </p:nvSpPr>
        <p:spPr>
          <a:xfrm>
            <a:off x="985204" y="4109085"/>
            <a:ext cx="3211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Execute main-shop-app.py to launch the FastAPI app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8"/>
          <p:cNvSpPr/>
          <p:nvPr/>
        </p:nvSpPr>
        <p:spPr>
          <a:xfrm>
            <a:off x="4650067" y="3391853"/>
            <a:ext cx="3664800" cy="1669800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8"/>
          <p:cNvSpPr/>
          <p:nvPr/>
        </p:nvSpPr>
        <p:spPr>
          <a:xfrm>
            <a:off x="4876881" y="3618667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to Expect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8"/>
          <p:cNvSpPr/>
          <p:nvPr/>
        </p:nvSpPr>
        <p:spPr>
          <a:xfrm>
            <a:off x="4876881" y="4109085"/>
            <a:ext cx="32112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Access the main page and item APIs in the browser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8"/>
          <p:cNvSpPr/>
          <p:nvPr/>
        </p:nvSpPr>
        <p:spPr>
          <a:xfrm>
            <a:off x="758390" y="5288518"/>
            <a:ext cx="7556400" cy="1306800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8"/>
          <p:cNvSpPr/>
          <p:nvPr/>
        </p:nvSpPr>
        <p:spPr>
          <a:xfrm>
            <a:off x="985204" y="551533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Documentation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8"/>
          <p:cNvSpPr/>
          <p:nvPr/>
        </p:nvSpPr>
        <p:spPr>
          <a:xfrm>
            <a:off x="985204" y="6005751"/>
            <a:ext cx="710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Try the interactive documentation at /docs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1" name="Google Shape;31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8" title="1_Skr8nLCdGQsWrCn_xO5y8g.jpg"/>
          <p:cNvPicPr preferRelativeResize="0"/>
          <p:nvPr/>
        </p:nvPicPr>
        <p:blipFill rotWithShape="1">
          <a:blip r:embed="rId4">
            <a:alphaModFix/>
          </a:blip>
          <a:srcRect b="0" l="0" r="21844" t="0"/>
          <a:stretch/>
        </p:blipFill>
        <p:spPr>
          <a:xfrm>
            <a:off x="8426400" y="1991602"/>
            <a:ext cx="5975400" cy="4470301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200000" dist="114300">
              <a:srgbClr val="999999">
                <a:alpha val="64999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9"/>
          <p:cNvSpPr/>
          <p:nvPr/>
        </p:nvSpPr>
        <p:spPr>
          <a:xfrm>
            <a:off x="793790" y="2001322"/>
            <a:ext cx="619648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Testing API Endpoints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9"/>
          <p:cNvSpPr/>
          <p:nvPr/>
        </p:nvSpPr>
        <p:spPr>
          <a:xfrm>
            <a:off x="793790" y="305026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0" name="Google Shape;32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309276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9"/>
          <p:cNvSpPr/>
          <p:nvPr/>
        </p:nvSpPr>
        <p:spPr>
          <a:xfrm>
            <a:off x="1530906" y="312812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API Testing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9"/>
          <p:cNvSpPr/>
          <p:nvPr/>
        </p:nvSpPr>
        <p:spPr>
          <a:xfrm>
            <a:off x="1530906" y="3618548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the browser or tools like Postman to test GET and POST requests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9"/>
          <p:cNvSpPr/>
          <p:nvPr/>
        </p:nvSpPr>
        <p:spPr>
          <a:xfrm>
            <a:off x="793790" y="4797981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860" y="484048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/>
          <p:nvPr/>
        </p:nvSpPr>
        <p:spPr>
          <a:xfrm>
            <a:off x="1530906" y="48758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9"/>
          <p:cNvSpPr/>
          <p:nvPr/>
        </p:nvSpPr>
        <p:spPr>
          <a:xfrm>
            <a:off x="1530906" y="5366266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Test creating an item with POST /items/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9"/>
          <p:cNvSpPr/>
          <p:nvPr/>
        </p:nvSpPr>
        <p:spPr>
          <a:xfrm>
            <a:off x="1530906" y="5865257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View all items with GET /items/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9" title="WhatsApp Image 2025-06-05 at 5.07.09 P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87986" y="2154631"/>
            <a:ext cx="5975389" cy="4673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0"/>
          <p:cNvSpPr/>
          <p:nvPr/>
        </p:nvSpPr>
        <p:spPr>
          <a:xfrm>
            <a:off x="6280190" y="1347549"/>
            <a:ext cx="7556421" cy="127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000"/>
              <a:buFont typeface="Platypi Medium"/>
              <a:buNone/>
            </a:pPr>
            <a:r>
              <a:rPr lang="en-US" sz="40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Using the POST Method to Add Items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6" name="Google Shape;33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0190" y="2929533"/>
            <a:ext cx="1020723" cy="122479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0"/>
          <p:cNvSpPr/>
          <p:nvPr/>
        </p:nvSpPr>
        <p:spPr>
          <a:xfrm>
            <a:off x="7607022" y="3133606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lang="en-US" sz="20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Adding New Items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0"/>
          <p:cNvSpPr/>
          <p:nvPr/>
        </p:nvSpPr>
        <p:spPr>
          <a:xfrm>
            <a:off x="7607022" y="3574852"/>
            <a:ext cx="6229588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POST request allows adding new items to the store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4154329"/>
            <a:ext cx="1020723" cy="1502807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0"/>
          <p:cNvSpPr/>
          <p:nvPr/>
        </p:nvSpPr>
        <p:spPr>
          <a:xfrm>
            <a:off x="7607022" y="4358402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lang="en-US" sz="20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0"/>
          <p:cNvSpPr/>
          <p:nvPr/>
        </p:nvSpPr>
        <p:spPr>
          <a:xfrm>
            <a:off x="7607022" y="4799648"/>
            <a:ext cx="6229588" cy="653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 a new item (e.g., laptop) and assign it an automatically generated ID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2" name="Google Shape;342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90" y="5657136"/>
            <a:ext cx="1020723" cy="1224796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0"/>
          <p:cNvSpPr/>
          <p:nvPr/>
        </p:nvSpPr>
        <p:spPr>
          <a:xfrm>
            <a:off x="7607022" y="5861209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lang="en-US" sz="20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Result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0"/>
          <p:cNvSpPr/>
          <p:nvPr/>
        </p:nvSpPr>
        <p:spPr>
          <a:xfrm>
            <a:off x="7607022" y="6302454"/>
            <a:ext cx="6229588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response shows the new item and its ID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5" name="Google Shape;345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9600" y="4735845"/>
            <a:ext cx="3419475" cy="781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40"/>
          <p:cNvGrpSpPr/>
          <p:nvPr/>
        </p:nvGrpSpPr>
        <p:grpSpPr>
          <a:xfrm>
            <a:off x="0" y="0"/>
            <a:ext cx="5486400" cy="8229600"/>
            <a:chOff x="0" y="0"/>
            <a:chExt cx="5486400" cy="8229600"/>
          </a:xfrm>
        </p:grpSpPr>
        <p:sp>
          <p:nvSpPr>
            <p:cNvPr id="348" name="Google Shape;348;p40"/>
            <p:cNvSpPr/>
            <p:nvPr/>
          </p:nvSpPr>
          <p:spPr>
            <a:xfrm>
              <a:off x="0" y="0"/>
              <a:ext cx="5486400" cy="8229600"/>
            </a:xfrm>
            <a:prstGeom prst="rect">
              <a:avLst/>
            </a:prstGeom>
            <a:solidFill>
              <a:srgbClr val="FBFADE"/>
            </a:solidFill>
            <a:ln cap="flat" cmpd="sng" w="9525">
              <a:solidFill>
                <a:srgbClr val="FFE5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BFADE"/>
                </a:solidFill>
              </a:endParaRPr>
            </a:p>
          </p:txBody>
        </p:sp>
        <p:pic>
          <p:nvPicPr>
            <p:cNvPr id="349" name="Google Shape;349;p40" title="WhatsApp Image 2025-06-05 at 5.22.12 PM.jpg"/>
            <p:cNvPicPr preferRelativeResize="0"/>
            <p:nvPr/>
          </p:nvPicPr>
          <p:blipFill rotWithShape="1">
            <a:blip r:embed="rId8">
              <a:alphaModFix/>
            </a:blip>
            <a:srcRect b="55097" l="0" r="0" t="0"/>
            <a:stretch/>
          </p:blipFill>
          <p:spPr>
            <a:xfrm>
              <a:off x="0" y="2825218"/>
              <a:ext cx="5486400" cy="33852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1"/>
          <p:cNvSpPr/>
          <p:nvPr/>
        </p:nvSpPr>
        <p:spPr>
          <a:xfrm>
            <a:off x="6280190" y="1286351"/>
            <a:ext cx="7556421" cy="127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000"/>
              <a:buFont typeface="Platypi Medium"/>
              <a:buNone/>
            </a:pPr>
            <a:r>
              <a:rPr lang="en-US" sz="40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Working with Path Parameters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6" name="Google Shape;35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0190" y="2868335"/>
            <a:ext cx="1020723" cy="122479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1"/>
          <p:cNvSpPr/>
          <p:nvPr/>
        </p:nvSpPr>
        <p:spPr>
          <a:xfrm>
            <a:off x="7607022" y="3072408"/>
            <a:ext cx="2835712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lang="en-US" sz="20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Define Path Parameter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1"/>
          <p:cNvSpPr/>
          <p:nvPr/>
        </p:nvSpPr>
        <p:spPr>
          <a:xfrm>
            <a:off x="7607022" y="3513653"/>
            <a:ext cx="6229588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Pass specific item IDs in the URL (e.g., /items/{item_id})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9" name="Google Shape;35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4093131"/>
            <a:ext cx="1020723" cy="1625203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1"/>
          <p:cNvSpPr/>
          <p:nvPr/>
        </p:nvSpPr>
        <p:spPr>
          <a:xfrm>
            <a:off x="7607022" y="4297204"/>
            <a:ext cx="2722245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lang="en-US" sz="20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Code Implementation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1"/>
          <p:cNvSpPr/>
          <p:nvPr/>
        </p:nvSpPr>
        <p:spPr>
          <a:xfrm>
            <a:off x="7607022" y="4738449"/>
            <a:ext cx="6229588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@app.get("/items/{item_id}")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1"/>
          <p:cNvSpPr/>
          <p:nvPr/>
        </p:nvSpPr>
        <p:spPr>
          <a:xfrm>
            <a:off x="7607022" y="5187553"/>
            <a:ext cx="6229588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Retrieve item data by ID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3" name="Google Shape;363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0190" y="5718334"/>
            <a:ext cx="1020723" cy="122479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1"/>
          <p:cNvSpPr/>
          <p:nvPr/>
        </p:nvSpPr>
        <p:spPr>
          <a:xfrm>
            <a:off x="7607022" y="5922407"/>
            <a:ext cx="2667119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lang="en-US" sz="20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Automatic Validation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1"/>
          <p:cNvSpPr/>
          <p:nvPr/>
        </p:nvSpPr>
        <p:spPr>
          <a:xfrm>
            <a:off x="7607022" y="6363653"/>
            <a:ext cx="6229588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FastAPI handles path parameter validation automatically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6" name="Google Shape;366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1" title="WhatsApp Image 2025-06-05 at 5.24.54 PM.jpeg"/>
          <p:cNvPicPr preferRelativeResize="0"/>
          <p:nvPr/>
        </p:nvPicPr>
        <p:blipFill rotWithShape="1">
          <a:blip r:embed="rId7">
            <a:alphaModFix/>
          </a:blip>
          <a:srcRect b="0" l="16667" r="16667" t="0"/>
          <a:stretch/>
        </p:blipFill>
        <p:spPr>
          <a:xfrm>
            <a:off x="0" y="0"/>
            <a:ext cx="5486400" cy="82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2"/>
          <p:cNvSpPr/>
          <p:nvPr/>
        </p:nvSpPr>
        <p:spPr>
          <a:xfrm>
            <a:off x="793790" y="1634133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PUT Method for Updating Items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2"/>
          <p:cNvSpPr/>
          <p:nvPr/>
        </p:nvSpPr>
        <p:spPr>
          <a:xfrm>
            <a:off x="793790" y="3391853"/>
            <a:ext cx="3664863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2"/>
          <p:cNvSpPr/>
          <p:nvPr/>
        </p:nvSpPr>
        <p:spPr>
          <a:xfrm>
            <a:off x="1020604" y="361866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Updating Items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2"/>
          <p:cNvSpPr/>
          <p:nvPr/>
        </p:nvSpPr>
        <p:spPr>
          <a:xfrm>
            <a:off x="1020604" y="4109085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PUT request updates an existing item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2"/>
          <p:cNvSpPr/>
          <p:nvPr/>
        </p:nvSpPr>
        <p:spPr>
          <a:xfrm>
            <a:off x="4685467" y="3391853"/>
            <a:ext cx="3664863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2"/>
          <p:cNvSpPr/>
          <p:nvPr/>
        </p:nvSpPr>
        <p:spPr>
          <a:xfrm>
            <a:off x="4912281" y="361866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2"/>
          <p:cNvSpPr/>
          <p:nvPr/>
        </p:nvSpPr>
        <p:spPr>
          <a:xfrm>
            <a:off x="4912281" y="4109085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Update item details like name and price using the item ID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2"/>
          <p:cNvSpPr/>
          <p:nvPr/>
        </p:nvSpPr>
        <p:spPr>
          <a:xfrm>
            <a:off x="793790" y="5288518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2"/>
          <p:cNvSpPr/>
          <p:nvPr/>
        </p:nvSpPr>
        <p:spPr>
          <a:xfrm>
            <a:off x="1020604" y="551533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Test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2"/>
          <p:cNvSpPr/>
          <p:nvPr/>
        </p:nvSpPr>
        <p:spPr>
          <a:xfrm>
            <a:off x="1020604" y="6005751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Try updating an item with a PUT request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p42" title="WhatsApp_Image_2025-06-05_at_5.17.13_PM-removebg-preview (1).png"/>
          <p:cNvPicPr preferRelativeResize="0"/>
          <p:nvPr/>
        </p:nvPicPr>
        <p:blipFill rotWithShape="1">
          <a:blip r:embed="rId3">
            <a:alphaModFix/>
          </a:blip>
          <a:srcRect b="0" l="12255" r="14624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4" name="Google Shape;38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/>
          <p:nvPr/>
        </p:nvSpPr>
        <p:spPr>
          <a:xfrm>
            <a:off x="6421790" y="1896428"/>
            <a:ext cx="7556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DELETE Method for Removing Items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3"/>
          <p:cNvSpPr/>
          <p:nvPr/>
        </p:nvSpPr>
        <p:spPr>
          <a:xfrm>
            <a:off x="6421790" y="3654147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2" name="Google Shape;39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6860" y="369665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3"/>
          <p:cNvSpPr/>
          <p:nvPr/>
        </p:nvSpPr>
        <p:spPr>
          <a:xfrm>
            <a:off x="7158906" y="3732014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Deleting Items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3"/>
          <p:cNvSpPr/>
          <p:nvPr/>
        </p:nvSpPr>
        <p:spPr>
          <a:xfrm>
            <a:off x="7158906" y="4222433"/>
            <a:ext cx="2899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DELETE request removes an item from the database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3"/>
          <p:cNvSpPr/>
          <p:nvPr/>
        </p:nvSpPr>
        <p:spPr>
          <a:xfrm>
            <a:off x="10341803" y="3654147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6" name="Google Shape;39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6874" y="369665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3"/>
          <p:cNvSpPr/>
          <p:nvPr/>
        </p:nvSpPr>
        <p:spPr>
          <a:xfrm>
            <a:off x="11078919" y="3732014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3"/>
          <p:cNvSpPr/>
          <p:nvPr/>
        </p:nvSpPr>
        <p:spPr>
          <a:xfrm>
            <a:off x="11078919" y="4222433"/>
            <a:ext cx="2899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Delete an item by providing its ID in the URL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3"/>
          <p:cNvSpPr/>
          <p:nvPr/>
        </p:nvSpPr>
        <p:spPr>
          <a:xfrm>
            <a:off x="6421790" y="5401866"/>
            <a:ext cx="510300" cy="510300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0" name="Google Shape;40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6860" y="544437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3"/>
          <p:cNvSpPr/>
          <p:nvPr/>
        </p:nvSpPr>
        <p:spPr>
          <a:xfrm>
            <a:off x="7158906" y="5479733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Test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3"/>
          <p:cNvSpPr/>
          <p:nvPr/>
        </p:nvSpPr>
        <p:spPr>
          <a:xfrm>
            <a:off x="7158906" y="5970151"/>
            <a:ext cx="68193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Execute DELETE request and verify item removal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43" title="WhatsApp Image 2025-06-05 at 5.20.19 PM.jpg"/>
          <p:cNvPicPr preferRelativeResize="0"/>
          <p:nvPr/>
        </p:nvPicPr>
        <p:blipFill rotWithShape="1">
          <a:blip r:embed="rId6">
            <a:alphaModFix/>
          </a:blip>
          <a:srcRect b="0" l="16667" r="16667" t="0"/>
          <a:stretch/>
        </p:blipFill>
        <p:spPr>
          <a:xfrm>
            <a:off x="0" y="0"/>
            <a:ext cx="5486400" cy="8229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4" name="Google Shape;404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4"/>
          <p:cNvSpPr/>
          <p:nvPr/>
        </p:nvSpPr>
        <p:spPr>
          <a:xfrm>
            <a:off x="793790" y="1566029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Benefits of Organizing with Routers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4"/>
          <p:cNvSpPr/>
          <p:nvPr/>
        </p:nvSpPr>
        <p:spPr>
          <a:xfrm>
            <a:off x="1517440" y="3386674"/>
            <a:ext cx="7556400" cy="1806000"/>
          </a:xfrm>
          <a:prstGeom prst="roundRect">
            <a:avLst>
              <a:gd fmla="val 188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4"/>
          <p:cNvSpPr/>
          <p:nvPr/>
        </p:nvSpPr>
        <p:spPr>
          <a:xfrm>
            <a:off x="1744254" y="3613488"/>
            <a:ext cx="4151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Improved Code Manageability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4"/>
          <p:cNvSpPr/>
          <p:nvPr/>
        </p:nvSpPr>
        <p:spPr>
          <a:xfrm>
            <a:off x="1744254" y="4103906"/>
            <a:ext cx="710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Keep different features (items, users) in separate modules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4"/>
          <p:cNvSpPr/>
          <p:nvPr/>
        </p:nvSpPr>
        <p:spPr>
          <a:xfrm>
            <a:off x="1744254" y="4602897"/>
            <a:ext cx="710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Easily scale your project by adding more routers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4"/>
          <p:cNvSpPr/>
          <p:nvPr/>
        </p:nvSpPr>
        <p:spPr>
          <a:xfrm>
            <a:off x="1517440" y="5419428"/>
            <a:ext cx="7556400" cy="1306800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4"/>
          <p:cNvSpPr/>
          <p:nvPr/>
        </p:nvSpPr>
        <p:spPr>
          <a:xfrm>
            <a:off x="1744254" y="564624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Easier Maintenance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4"/>
          <p:cNvSpPr/>
          <p:nvPr/>
        </p:nvSpPr>
        <p:spPr>
          <a:xfrm>
            <a:off x="1744254" y="6136660"/>
            <a:ext cx="710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Isolate problems and updates to specific modules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8" name="Google Shape;418;p44" title="ChatGPT Image Jun 5, 2025, 03_53_22 PM.png"/>
          <p:cNvPicPr preferRelativeResize="0"/>
          <p:nvPr/>
        </p:nvPicPr>
        <p:blipFill rotWithShape="1">
          <a:blip r:embed="rId3">
            <a:alphaModFix/>
          </a:blip>
          <a:srcRect b="0" l="0" r="8601" t="0"/>
          <a:stretch/>
        </p:blipFill>
        <p:spPr>
          <a:xfrm>
            <a:off x="8495176" y="2144725"/>
            <a:ext cx="6135226" cy="44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4" title="pngtree-vector-illustration-of-laptop-icon-being-clicked-on-screen-by-a-mouse-cursor-vector-png-image_48236816.jpg"/>
          <p:cNvPicPr preferRelativeResize="0"/>
          <p:nvPr/>
        </p:nvPicPr>
        <p:blipFill rotWithShape="1">
          <a:blip r:embed="rId4">
            <a:alphaModFix/>
          </a:blip>
          <a:srcRect b="15563" l="0" r="0" t="853"/>
          <a:stretch/>
        </p:blipFill>
        <p:spPr>
          <a:xfrm>
            <a:off x="793812" y="3573948"/>
            <a:ext cx="678336" cy="566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0" name="Google Shape;42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264" y="5594674"/>
            <a:ext cx="457430" cy="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1" name="Google Shape;421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5"/>
          <p:cNvSpPr/>
          <p:nvPr/>
        </p:nvSpPr>
        <p:spPr>
          <a:xfrm>
            <a:off x="793790" y="1570434"/>
            <a:ext cx="741664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Conclusion and Next Steps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5"/>
          <p:cNvSpPr/>
          <p:nvPr/>
        </p:nvSpPr>
        <p:spPr>
          <a:xfrm>
            <a:off x="793790" y="261937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2661880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5"/>
          <p:cNvSpPr/>
          <p:nvPr/>
        </p:nvSpPr>
        <p:spPr>
          <a:xfrm>
            <a:off x="1530906" y="26972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 Takeaways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5"/>
          <p:cNvSpPr/>
          <p:nvPr/>
        </p:nvSpPr>
        <p:spPr>
          <a:xfrm>
            <a:off x="1530906" y="3187660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Routers help organize and manage APIs in FastAPI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5"/>
          <p:cNvSpPr/>
          <p:nvPr/>
        </p:nvSpPr>
        <p:spPr>
          <a:xfrm>
            <a:off x="1530906" y="3686651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Path parameters, GET, POST, PUT, DELETE methods are essential tools for building web APIs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5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4" name="Google Shape;43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860" y="4908590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5"/>
          <p:cNvSpPr/>
          <p:nvPr/>
        </p:nvSpPr>
        <p:spPr>
          <a:xfrm>
            <a:off x="1530906" y="494395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Next Steps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5"/>
          <p:cNvSpPr/>
          <p:nvPr/>
        </p:nvSpPr>
        <p:spPr>
          <a:xfrm>
            <a:off x="1530906" y="5434370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Practice creating your own routers and endpoints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5"/>
          <p:cNvSpPr/>
          <p:nvPr/>
        </p:nvSpPr>
        <p:spPr>
          <a:xfrm>
            <a:off x="1530906" y="5933361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Continue exploring FastAPI's powerful features in the upcoming project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45" title="ChatGPT Image Jun 5, 2025, 03_30_23 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9" name="Google Shape;439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