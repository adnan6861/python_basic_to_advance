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4630400" cy="8229600"/>
  <p:notesSz cx="8229600" cy="14630400"/>
  <p:embeddedFontLst>
    <p:embeddedFont>
      <p:font typeface="Platypi Medium" panose="020B0604020202020204" charset="0"/>
      <p:regular r:id="rId22"/>
      <p:bold r:id="rId23"/>
      <p:italic r:id="rId24"/>
      <p:boldItalic r:id="rId25"/>
    </p:embeddedFont>
    <p:embeddedFont>
      <p:font typeface="Source Serif Pro" panose="02040603050405020204" pitchFamily="18" charset="0"/>
      <p:regular r:id="rId26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7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0515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81551"/>
            <a:ext cx="61716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Python Programming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304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Lecture 23: FastAPI Routers</a:t>
            </a:r>
            <a:endParaRPr lang="en-US" sz="4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560" y="228600"/>
            <a:ext cx="777240" cy="609481"/>
          </a:xfrm>
          <a:prstGeom prst="rect">
            <a:avLst/>
          </a:prstGeom>
        </p:spPr>
      </p:pic>
      <p:pic>
        <p:nvPicPr>
          <p:cNvPr id="6" name="Google Shape;57;p1" descr="preencoded.png">
            <a:extLst>
              <a:ext uri="{FF2B5EF4-FFF2-40B4-BE49-F238E27FC236}">
                <a16:creationId xmlns:a16="http://schemas.microsoft.com/office/drawing/2014/main" id="{5E066330-1FD5-FD51-16D7-B35C732C8BC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0190" y="5567930"/>
            <a:ext cx="1398746" cy="1398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818" y="283488"/>
            <a:ext cx="4596646" cy="7662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376124"/>
            <a:ext cx="65747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Introduction to FastAPI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2425065"/>
            <a:ext cx="3664863" cy="2531745"/>
          </a:xfrm>
          <a:prstGeom prst="roundRect">
            <a:avLst>
              <a:gd name="adj" fmla="val 1344"/>
            </a:avLst>
          </a:prstGeom>
          <a:solidFill>
            <a:srgbClr val="F9F7F7"/>
          </a:solidFill>
          <a:ln/>
        </p:spPr>
      </p:sp>
      <p:sp>
        <p:nvSpPr>
          <p:cNvPr id="6" name="Text 2"/>
          <p:cNvSpPr/>
          <p:nvPr/>
        </p:nvSpPr>
        <p:spPr>
          <a:xfrm>
            <a:off x="1020604" y="26518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Course Objective: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3142298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Understanding FastAPI essentials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020604" y="4004191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Preparing for a project on FastAPI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85467" y="2425065"/>
            <a:ext cx="3664863" cy="2531745"/>
          </a:xfrm>
          <a:prstGeom prst="roundRect">
            <a:avLst>
              <a:gd name="adj" fmla="val 1344"/>
            </a:avLst>
          </a:prstGeom>
          <a:solidFill>
            <a:srgbClr val="F9F7F7"/>
          </a:solidFill>
          <a:ln/>
        </p:spPr>
      </p:sp>
      <p:sp>
        <p:nvSpPr>
          <p:cNvPr id="10" name="Text 6"/>
          <p:cNvSpPr/>
          <p:nvPr/>
        </p:nvSpPr>
        <p:spPr>
          <a:xfrm>
            <a:off x="4912281" y="2651879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Focus of Today's Lecture: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912281" y="3496627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HTTP Methods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4912281" y="3995618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FastAPI Routers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5183624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14" name="Text 10"/>
          <p:cNvSpPr/>
          <p:nvPr/>
        </p:nvSpPr>
        <p:spPr>
          <a:xfrm>
            <a:off x="1020604" y="54104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Why It's Important: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020604" y="5900857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These concepts lay the foundation for building organized projects in FastAPI</a:t>
            </a:r>
            <a:endParaRPr lang="en-US" sz="1750" dirty="0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98652EDA-FA56-A453-FD86-5DA464B7F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560" y="228600"/>
            <a:ext cx="777240" cy="6094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" y="994273"/>
            <a:ext cx="6804660" cy="336268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08990" y="758309"/>
            <a:ext cx="57276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Understanding HTTP Methods</a:t>
            </a:r>
            <a:endParaRPr lang="en-US" sz="4000" dirty="0"/>
          </a:p>
        </p:txBody>
      </p:sp>
      <p:sp>
        <p:nvSpPr>
          <p:cNvPr id="5" name="Shape 1"/>
          <p:cNvSpPr/>
          <p:nvPr/>
        </p:nvSpPr>
        <p:spPr>
          <a:xfrm>
            <a:off x="8108990" y="2340293"/>
            <a:ext cx="5727621" cy="1176099"/>
          </a:xfrm>
          <a:prstGeom prst="roundRect">
            <a:avLst>
              <a:gd name="adj" fmla="val 2604"/>
            </a:avLst>
          </a:prstGeom>
          <a:solidFill>
            <a:srgbClr val="F9F7F7"/>
          </a:solidFill>
          <a:ln/>
        </p:spPr>
      </p:sp>
      <p:sp>
        <p:nvSpPr>
          <p:cNvPr id="6" name="Text 2"/>
          <p:cNvSpPr/>
          <p:nvPr/>
        </p:nvSpPr>
        <p:spPr>
          <a:xfrm>
            <a:off x="8313063" y="2544366"/>
            <a:ext cx="363938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Definition of HTTP Methods: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313063" y="2985611"/>
            <a:ext cx="53194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Different actions for interacting with web resources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108990" y="3720465"/>
            <a:ext cx="5727621" cy="2370534"/>
          </a:xfrm>
          <a:prstGeom prst="roundRect">
            <a:avLst>
              <a:gd name="adj" fmla="val 1292"/>
            </a:avLst>
          </a:prstGeom>
          <a:solidFill>
            <a:srgbClr val="F9F7F7"/>
          </a:solidFill>
          <a:ln/>
        </p:spPr>
      </p:sp>
      <p:sp>
        <p:nvSpPr>
          <p:cNvPr id="9" name="Text 5"/>
          <p:cNvSpPr/>
          <p:nvPr/>
        </p:nvSpPr>
        <p:spPr>
          <a:xfrm>
            <a:off x="8313063" y="3924538"/>
            <a:ext cx="318587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Common HTTP Methods: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313063" y="4365784"/>
            <a:ext cx="53194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GET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313063" y="4763929"/>
            <a:ext cx="53194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POST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313063" y="5162074"/>
            <a:ext cx="53194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PUT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313063" y="5560219"/>
            <a:ext cx="53194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DELETE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108990" y="6295073"/>
            <a:ext cx="5727621" cy="1176099"/>
          </a:xfrm>
          <a:prstGeom prst="roundRect">
            <a:avLst>
              <a:gd name="adj" fmla="val 2604"/>
            </a:avLst>
          </a:prstGeom>
          <a:solidFill>
            <a:srgbClr val="F9F7F7"/>
          </a:solidFill>
          <a:ln/>
        </p:spPr>
      </p:sp>
      <p:sp>
        <p:nvSpPr>
          <p:cNvPr id="15" name="Text 11"/>
          <p:cNvSpPr/>
          <p:nvPr/>
        </p:nvSpPr>
        <p:spPr>
          <a:xfrm>
            <a:off x="8313063" y="6499146"/>
            <a:ext cx="262080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Why We Need Them: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8313063" y="6940391"/>
            <a:ext cx="53194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They define how clients and servers communicate</a:t>
            </a:r>
            <a:endParaRPr lang="en-US" sz="16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560" y="228600"/>
            <a:ext cx="777240" cy="609481"/>
          </a:xfrm>
          <a:prstGeom prst="rect">
            <a:avLst/>
          </a:prstGeom>
        </p:spPr>
      </p:pic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6E4ED3E3-FAE7-B0B9-2023-010AEA429C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789"/>
          <a:stretch>
            <a:fillRect/>
          </a:stretch>
        </p:blipFill>
        <p:spPr>
          <a:xfrm>
            <a:off x="538817" y="4529138"/>
            <a:ext cx="6748105" cy="30322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904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GET Method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3936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2581870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26172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Purpose of GET: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310765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Retrieve data from the server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530906" y="3606641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Example: Fetching a list of items from a store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793790" y="442317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60" y="4465677"/>
            <a:ext cx="340162" cy="4252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30906" y="45010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Analogy: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530906" y="4991457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Asking a waiter for the menu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93790" y="580798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5850493"/>
            <a:ext cx="340162" cy="42529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30906" y="58858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FastAPI Usage: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1530906" y="637627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@app.get("/path")</a:t>
            </a:r>
            <a:endParaRPr lang="en-US" sz="1750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24D6C695-9F9D-D059-9D15-BE88E45FFF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24560" y="228600"/>
            <a:ext cx="777240" cy="6094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1987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POST Method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6881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2911316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2946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Purpose of POST: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017306" y="3437096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Sending data to the server to create a new resource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017306" y="4298990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Example: Submitting an order or form data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10200203" y="286881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5274" y="2911316"/>
            <a:ext cx="340162" cy="4252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37319" y="2946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Analogy: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937319" y="3437096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Ordering food at a restaurant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6280190" y="547842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260" y="5520928"/>
            <a:ext cx="340162" cy="42529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17306" y="55562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FastAPI Usage: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7017306" y="604670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@app.post("/path")</a:t>
            </a:r>
            <a:endParaRPr lang="en-US" sz="17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24560" y="228600"/>
            <a:ext cx="777240" cy="6094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013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PUT Method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05026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3092768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31281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Purpose of PUT: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3618548"/>
            <a:ext cx="28994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Update an existing resource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530906" y="4117538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Example: Changing an order after submitting it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713803" y="305026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874" y="3092768"/>
            <a:ext cx="340162" cy="4252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50919" y="31281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Analogy: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5450919" y="3618548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Calling the waiter to modify your order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93790" y="529697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5339477"/>
            <a:ext cx="340162" cy="42529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30906" y="53748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FastAPI Usage: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1530906" y="5865257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@app.put("/path/{id}")</a:t>
            </a:r>
            <a:endParaRPr lang="en-US" sz="1750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C9A9851D-418C-F29D-BC69-F059CB6D44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24560" y="228600"/>
            <a:ext cx="777240" cy="6094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18" y="283488"/>
            <a:ext cx="4596646" cy="7662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2250877"/>
            <a:ext cx="57746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DELETE Method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6280190" y="32998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3342322"/>
            <a:ext cx="340162" cy="42529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017306" y="3377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Purpose of DELETE: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7017306" y="3868103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Remove a resource from the server</a:t>
            </a:r>
            <a:endParaRPr lang="en-US" sz="1750" dirty="0"/>
          </a:p>
        </p:txBody>
      </p:sp>
      <p:sp>
        <p:nvSpPr>
          <p:cNvPr id="9" name="Shape 4"/>
          <p:cNvSpPr/>
          <p:nvPr/>
        </p:nvSpPr>
        <p:spPr>
          <a:xfrm>
            <a:off x="10200203" y="32998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5274" y="3342322"/>
            <a:ext cx="340162" cy="4252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37319" y="3377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Analogy: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937319" y="3868103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Calling the waiter to cancel your order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6280190" y="504753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260" y="5090041"/>
            <a:ext cx="340162" cy="42529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017306" y="5125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FastAPI Usage: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7017306" y="5615821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@app.delete("/path/{id}")</a:t>
            </a:r>
            <a:endParaRPr lang="en-US" sz="17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24560" y="228600"/>
            <a:ext cx="777240" cy="6094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3845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Overview of HTTP Methods in FastAPI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42298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3691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How to Use Them: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85953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4444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@app.get(), @app.post(), @app.put(), @app.delete()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676061"/>
            <a:ext cx="7556421" cy="2168843"/>
          </a:xfrm>
          <a:prstGeom prst="roundRect">
            <a:avLst>
              <a:gd name="adj" fmla="val 1569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1020604" y="49028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Important Points: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604" y="539329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These decorators are used to define routes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20604" y="5892284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Each method corresponds to a specific task (retrieving, creating, updating, deleting data)</a:t>
            </a:r>
            <a:endParaRPr lang="en-US" sz="1750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AFB0FA46-F83F-5039-F4B2-88B026681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0" y="228600"/>
            <a:ext cx="777240" cy="6094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207BFD-FD28-71A0-4767-DAFE439134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2078" b="42077"/>
          <a:stretch>
            <a:fillRect/>
          </a:stretch>
        </p:blipFill>
        <p:spPr>
          <a:xfrm>
            <a:off x="8858992" y="923170"/>
            <a:ext cx="5343896" cy="62356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07" y="1886664"/>
            <a:ext cx="6747986" cy="4456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0"/>
          <p:cNvSpPr/>
          <p:nvPr/>
        </p:nvSpPr>
        <p:spPr>
          <a:xfrm>
            <a:off x="8108990" y="799148"/>
            <a:ext cx="57276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GET Method Example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8108990" y="2556867"/>
            <a:ext cx="5727621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6" name="Text 2"/>
          <p:cNvSpPr/>
          <p:nvPr/>
        </p:nvSpPr>
        <p:spPr>
          <a:xfrm>
            <a:off x="8335804" y="2783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Code Overview: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8335804" y="3274100"/>
            <a:ext cx="52739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Simple home page using </a:t>
            </a:r>
            <a:r>
              <a:rPr lang="en-US" sz="1750" dirty="0">
                <a:solidFill>
                  <a:srgbClr val="F4444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GET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8108990" y="4090630"/>
            <a:ext cx="5727621" cy="1805940"/>
          </a:xfrm>
          <a:prstGeom prst="roundRect">
            <a:avLst>
              <a:gd name="adj" fmla="val 1884"/>
            </a:avLst>
          </a:prstGeom>
          <a:solidFill>
            <a:srgbClr val="F9F7F7"/>
          </a:solidFill>
          <a:ln/>
        </p:spPr>
      </p:sp>
      <p:sp>
        <p:nvSpPr>
          <p:cNvPr id="9" name="Text 5"/>
          <p:cNvSpPr/>
          <p:nvPr/>
        </p:nvSpPr>
        <p:spPr>
          <a:xfrm>
            <a:off x="8335804" y="4317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FastAPI Example: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335804" y="4807863"/>
            <a:ext cx="52739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4444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@app.get("/")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8335804" y="5306854"/>
            <a:ext cx="52739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Returns a simple welcome message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8108990" y="6123384"/>
            <a:ext cx="5727621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3" name="Text 9"/>
          <p:cNvSpPr/>
          <p:nvPr/>
        </p:nvSpPr>
        <p:spPr>
          <a:xfrm>
            <a:off x="8335804" y="63501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Test It Out: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8335804" y="6840617"/>
            <a:ext cx="52739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Visit </a:t>
            </a:r>
            <a:r>
              <a:rPr lang="en-US" sz="1750" dirty="0">
                <a:solidFill>
                  <a:srgbClr val="F4444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http://127.0.0.1:8000</a:t>
            </a: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in your browser</a:t>
            </a:r>
            <a:endParaRPr lang="en-US" sz="17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4560" y="228600"/>
            <a:ext cx="777240" cy="6094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688" y="2456974"/>
            <a:ext cx="6748105" cy="33156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0"/>
          <p:cNvSpPr/>
          <p:nvPr/>
        </p:nvSpPr>
        <p:spPr>
          <a:xfrm>
            <a:off x="793790" y="799148"/>
            <a:ext cx="57276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POST Method Example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2556867"/>
            <a:ext cx="5727621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6" name="Text 2"/>
          <p:cNvSpPr/>
          <p:nvPr/>
        </p:nvSpPr>
        <p:spPr>
          <a:xfrm>
            <a:off x="1020604" y="2783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Code Overview: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3274100"/>
            <a:ext cx="52739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Creating a new item using </a:t>
            </a:r>
            <a:r>
              <a:rPr lang="en-US" sz="1750" dirty="0">
                <a:solidFill>
                  <a:srgbClr val="F4444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POST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93790" y="4090630"/>
            <a:ext cx="5727621" cy="1805940"/>
          </a:xfrm>
          <a:prstGeom prst="roundRect">
            <a:avLst>
              <a:gd name="adj" fmla="val 1884"/>
            </a:avLst>
          </a:prstGeom>
          <a:solidFill>
            <a:srgbClr val="F9F7F7"/>
          </a:solidFill>
          <a:ln/>
        </p:spPr>
      </p:sp>
      <p:sp>
        <p:nvSpPr>
          <p:cNvPr id="9" name="Text 5"/>
          <p:cNvSpPr/>
          <p:nvPr/>
        </p:nvSpPr>
        <p:spPr>
          <a:xfrm>
            <a:off x="1020604" y="4317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FastAPI Example: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20604" y="4807863"/>
            <a:ext cx="52739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4444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@app.post("/items/")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20604" y="5306854"/>
            <a:ext cx="52739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Sends item data and returns the new ID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793790" y="6123384"/>
            <a:ext cx="5727621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3" name="Text 9"/>
          <p:cNvSpPr/>
          <p:nvPr/>
        </p:nvSpPr>
        <p:spPr>
          <a:xfrm>
            <a:off x="1020604" y="63501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Test It Out: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020604" y="6840617"/>
            <a:ext cx="52739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Use API documentation at /docs to test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88" y="2772847"/>
            <a:ext cx="6748105" cy="26839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0"/>
          <p:cNvSpPr/>
          <p:nvPr/>
        </p:nvSpPr>
        <p:spPr>
          <a:xfrm>
            <a:off x="8108990" y="799148"/>
            <a:ext cx="57276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PUT Method Example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8108990" y="2556867"/>
            <a:ext cx="5727621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6" name="Text 2"/>
          <p:cNvSpPr/>
          <p:nvPr/>
        </p:nvSpPr>
        <p:spPr>
          <a:xfrm>
            <a:off x="8335804" y="2783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Code Overview: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8335804" y="3274100"/>
            <a:ext cx="52739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Updating an item using </a:t>
            </a:r>
            <a:r>
              <a:rPr lang="en-US" sz="1750" dirty="0">
                <a:solidFill>
                  <a:srgbClr val="F4444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PUT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8108990" y="4090630"/>
            <a:ext cx="5727621" cy="1805940"/>
          </a:xfrm>
          <a:prstGeom prst="roundRect">
            <a:avLst>
              <a:gd name="adj" fmla="val 1884"/>
            </a:avLst>
          </a:prstGeom>
          <a:solidFill>
            <a:srgbClr val="F9F7F7"/>
          </a:solidFill>
          <a:ln/>
        </p:spPr>
      </p:sp>
      <p:sp>
        <p:nvSpPr>
          <p:cNvPr id="9" name="Text 5"/>
          <p:cNvSpPr/>
          <p:nvPr/>
        </p:nvSpPr>
        <p:spPr>
          <a:xfrm>
            <a:off x="8335804" y="4317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FastAPI Example: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335804" y="4807863"/>
            <a:ext cx="52739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4444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@app.put("/items/{item_id}")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8335804" y="5306854"/>
            <a:ext cx="52739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Updates an item's data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8108990" y="6123384"/>
            <a:ext cx="5727621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3" name="Text 9"/>
          <p:cNvSpPr/>
          <p:nvPr/>
        </p:nvSpPr>
        <p:spPr>
          <a:xfrm>
            <a:off x="8335804" y="63501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Test It Out: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8335804" y="6840617"/>
            <a:ext cx="52739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Use API docs to update an item by ID</a:t>
            </a:r>
            <a:endParaRPr lang="en-US" sz="17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4560" y="228600"/>
            <a:ext cx="777240" cy="6094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050" y="2590800"/>
            <a:ext cx="6667500" cy="304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0"/>
          <p:cNvSpPr/>
          <p:nvPr/>
        </p:nvSpPr>
        <p:spPr>
          <a:xfrm>
            <a:off x="793790" y="799148"/>
            <a:ext cx="57276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DELETE Method Example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2556867"/>
            <a:ext cx="5727621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6" name="Text 2"/>
          <p:cNvSpPr/>
          <p:nvPr/>
        </p:nvSpPr>
        <p:spPr>
          <a:xfrm>
            <a:off x="1020604" y="2783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Code Overview: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3274100"/>
            <a:ext cx="52739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Deleting an item using </a:t>
            </a:r>
            <a:r>
              <a:rPr lang="en-US" sz="1750" dirty="0">
                <a:solidFill>
                  <a:srgbClr val="F4444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DELETE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93790" y="4090630"/>
            <a:ext cx="5727621" cy="1805940"/>
          </a:xfrm>
          <a:prstGeom prst="roundRect">
            <a:avLst>
              <a:gd name="adj" fmla="val 1884"/>
            </a:avLst>
          </a:prstGeom>
          <a:solidFill>
            <a:srgbClr val="F9F7F7"/>
          </a:solidFill>
          <a:ln/>
        </p:spPr>
      </p:sp>
      <p:sp>
        <p:nvSpPr>
          <p:cNvPr id="9" name="Text 5"/>
          <p:cNvSpPr/>
          <p:nvPr/>
        </p:nvSpPr>
        <p:spPr>
          <a:xfrm>
            <a:off x="1020604" y="4317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FastAPI Example: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20604" y="4807863"/>
            <a:ext cx="52739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4444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@app.delete("/items/{item_id}")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20604" y="5306854"/>
            <a:ext cx="52739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Deletes the item based on the item ID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793790" y="6123384"/>
            <a:ext cx="5727621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3" name="Text 9"/>
          <p:cNvSpPr/>
          <p:nvPr/>
        </p:nvSpPr>
        <p:spPr>
          <a:xfrm>
            <a:off x="1020604" y="63501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Test It Out: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020604" y="6840617"/>
            <a:ext cx="52739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Use API docs to delete an item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9463"/>
            <a:ext cx="76009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Path Parameters in FastAPI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6840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2510909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2546271"/>
            <a:ext cx="38677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Are Path Parameters?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036689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Parts of the URL used to pass specific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530906" y="3535680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Example: </a:t>
            </a:r>
            <a:r>
              <a:rPr lang="en-US" sz="1750" dirty="0">
                <a:solidFill>
                  <a:srgbClr val="F4444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/items/{item_id}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57003" y="246840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2074" y="2510909"/>
            <a:ext cx="340162" cy="4252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94119" y="25462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Usage in FastAPI: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8194119" y="3036689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Defined using {} in the route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8194119" y="3535680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Automatically validated with Python type hints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93790" y="4238744"/>
            <a:ext cx="413158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Path Parameter Example</a:t>
            </a:r>
            <a:endParaRPr lang="en-US" sz="2650" dirty="0"/>
          </a:p>
        </p:txBody>
      </p:sp>
      <p:sp>
        <p:nvSpPr>
          <p:cNvPr id="14" name="Shape 10"/>
          <p:cNvSpPr/>
          <p:nvPr/>
        </p:nvSpPr>
        <p:spPr>
          <a:xfrm>
            <a:off x="793790" y="5004197"/>
            <a:ext cx="4196358" cy="1805940"/>
          </a:xfrm>
          <a:prstGeom prst="roundRect">
            <a:avLst>
              <a:gd name="adj" fmla="val 1884"/>
            </a:avLst>
          </a:prstGeom>
          <a:solidFill>
            <a:srgbClr val="F9F7F7"/>
          </a:solidFill>
          <a:ln/>
        </p:spPr>
      </p:sp>
      <p:sp>
        <p:nvSpPr>
          <p:cNvPr id="15" name="Text 11"/>
          <p:cNvSpPr/>
          <p:nvPr/>
        </p:nvSpPr>
        <p:spPr>
          <a:xfrm>
            <a:off x="1020604" y="523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Code Overview: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020604" y="572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Fetching a specific item by its ID using GET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5216962" y="5004197"/>
            <a:ext cx="4196358" cy="1805940"/>
          </a:xfrm>
          <a:prstGeom prst="roundRect">
            <a:avLst>
              <a:gd name="adj" fmla="val 1884"/>
            </a:avLst>
          </a:prstGeom>
          <a:solidFill>
            <a:srgbClr val="F9F7F7"/>
          </a:solidFill>
          <a:ln/>
        </p:spPr>
      </p:sp>
      <p:sp>
        <p:nvSpPr>
          <p:cNvPr id="18" name="Text 14"/>
          <p:cNvSpPr/>
          <p:nvPr/>
        </p:nvSpPr>
        <p:spPr>
          <a:xfrm>
            <a:off x="5443776" y="523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FastAPI Example: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5443776" y="572142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4444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@app.get("/items/{item_id}")</a:t>
            </a:r>
            <a:endParaRPr lang="en-US" sz="1750" dirty="0"/>
          </a:p>
        </p:txBody>
      </p:sp>
      <p:sp>
        <p:nvSpPr>
          <p:cNvPr id="20" name="Text 16"/>
          <p:cNvSpPr/>
          <p:nvPr/>
        </p:nvSpPr>
        <p:spPr>
          <a:xfrm>
            <a:off x="5443776" y="622042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Fetches data for a given item_id</a:t>
            </a:r>
            <a:endParaRPr lang="en-US" sz="1750" dirty="0"/>
          </a:p>
        </p:txBody>
      </p:sp>
      <p:sp>
        <p:nvSpPr>
          <p:cNvPr id="21" name="Shape 17"/>
          <p:cNvSpPr/>
          <p:nvPr/>
        </p:nvSpPr>
        <p:spPr>
          <a:xfrm>
            <a:off x="9640133" y="5004197"/>
            <a:ext cx="4196358" cy="1805940"/>
          </a:xfrm>
          <a:prstGeom prst="roundRect">
            <a:avLst>
              <a:gd name="adj" fmla="val 1884"/>
            </a:avLst>
          </a:prstGeom>
          <a:solidFill>
            <a:srgbClr val="F9F7F7"/>
          </a:solidFill>
          <a:ln/>
        </p:spPr>
      </p:sp>
      <p:sp>
        <p:nvSpPr>
          <p:cNvPr id="22" name="Text 18"/>
          <p:cNvSpPr/>
          <p:nvPr/>
        </p:nvSpPr>
        <p:spPr>
          <a:xfrm>
            <a:off x="9866948" y="523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Test It Out: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9866948" y="572142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Try different IDs in your browser</a:t>
            </a:r>
            <a:endParaRPr lang="en-US" sz="175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4560" y="228600"/>
            <a:ext cx="777240" cy="6094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9463"/>
            <a:ext cx="80443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Query Parameters in FastAPI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6840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2510909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2546271"/>
            <a:ext cx="40893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Are Query Parameters?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036689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Optional parameters added at the end of the URL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530906" y="3535680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Example: /items?skip=0&amp;limit=10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57003" y="246840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9" name="Text 6"/>
          <p:cNvSpPr/>
          <p:nvPr/>
        </p:nvSpPr>
        <p:spPr>
          <a:xfrm>
            <a:off x="8194119" y="25462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Usage in FastAPI: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194119" y="3036689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Automatically handled as function arguments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194119" y="3535680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Supports default values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4238744"/>
            <a:ext cx="439769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Query Parameter Example</a:t>
            </a:r>
            <a:endParaRPr lang="en-US" sz="2650" dirty="0"/>
          </a:p>
        </p:txBody>
      </p:sp>
      <p:sp>
        <p:nvSpPr>
          <p:cNvPr id="13" name="Shape 10"/>
          <p:cNvSpPr/>
          <p:nvPr/>
        </p:nvSpPr>
        <p:spPr>
          <a:xfrm>
            <a:off x="793790" y="5004197"/>
            <a:ext cx="4196358" cy="1805940"/>
          </a:xfrm>
          <a:prstGeom prst="roundRect">
            <a:avLst>
              <a:gd name="adj" fmla="val 1884"/>
            </a:avLst>
          </a:prstGeom>
          <a:solidFill>
            <a:srgbClr val="F9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1020604" y="523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Code Overview: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20604" y="572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Retrieving items with query parameters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5216962" y="5004197"/>
            <a:ext cx="4196358" cy="1805940"/>
          </a:xfrm>
          <a:prstGeom prst="roundRect">
            <a:avLst>
              <a:gd name="adj" fmla="val 1884"/>
            </a:avLst>
          </a:prstGeom>
          <a:solidFill>
            <a:srgbClr val="F9F7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43776" y="523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FastAPI Example: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443776" y="572142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4444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@app.get("/items/")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5443776" y="622042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Filters items with skip, limit, and q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9640133" y="5004197"/>
            <a:ext cx="4196358" cy="1805940"/>
          </a:xfrm>
          <a:prstGeom prst="roundRect">
            <a:avLst>
              <a:gd name="adj" fmla="val 1884"/>
            </a:avLst>
          </a:prstGeom>
          <a:solidFill>
            <a:srgbClr val="F9F7F7"/>
          </a:solidFill>
          <a:ln/>
        </p:spPr>
      </p:sp>
      <p:sp>
        <p:nvSpPr>
          <p:cNvPr id="21" name="Text 18"/>
          <p:cNvSpPr/>
          <p:nvPr/>
        </p:nvSpPr>
        <p:spPr>
          <a:xfrm>
            <a:off x="9866948" y="523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Test It Out: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866948" y="572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Try different query combinations in your browser</a:t>
            </a:r>
            <a:endParaRPr lang="en-US" sz="17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560" y="228600"/>
            <a:ext cx="777240" cy="6094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25685"/>
            <a:ext cx="83731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Organizing Code with Routers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7462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3717131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7524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Why Use Routers?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242911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Avoid messy, unmanageable code when APIs grow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530906" y="4741902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Group related endpoints into separate files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57003" y="367462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2074" y="3717131"/>
            <a:ext cx="340162" cy="4252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94119" y="37524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Benefits of Routers: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8194119" y="4242911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Maintainable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8194119" y="4741902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Easy to scale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8194119" y="5240893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Organized structure for large projects</a:t>
            </a:r>
            <a:endParaRPr lang="en-US" sz="17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4560" y="228600"/>
            <a:ext cx="777240" cy="6094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370" y="1390650"/>
            <a:ext cx="4137660" cy="5448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0"/>
          <p:cNvSpPr/>
          <p:nvPr/>
        </p:nvSpPr>
        <p:spPr>
          <a:xfrm>
            <a:off x="793790" y="1670923"/>
            <a:ext cx="61652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Using FastAPI Routers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2719864"/>
            <a:ext cx="7556421" cy="1805940"/>
          </a:xfrm>
          <a:prstGeom prst="roundRect">
            <a:avLst>
              <a:gd name="adj" fmla="val 1884"/>
            </a:avLst>
          </a:prstGeom>
          <a:solidFill>
            <a:srgbClr val="F9F7F7"/>
          </a:solidFill>
          <a:ln/>
        </p:spPr>
      </p:sp>
      <p:sp>
        <p:nvSpPr>
          <p:cNvPr id="6" name="Text 2"/>
          <p:cNvSpPr/>
          <p:nvPr/>
        </p:nvSpPr>
        <p:spPr>
          <a:xfrm>
            <a:off x="1020604" y="2946678"/>
            <a:ext cx="33180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How to Define a Router: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3437096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Import APIRouter and create an instance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020604" y="393608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Example: router = APIRouter()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793790" y="4752618"/>
            <a:ext cx="7556421" cy="1805940"/>
          </a:xfrm>
          <a:prstGeom prst="roundRect">
            <a:avLst>
              <a:gd name="adj" fmla="val 1884"/>
            </a:avLst>
          </a:prstGeom>
          <a:solidFill>
            <a:srgbClr val="F9F7F7"/>
          </a:solidFill>
          <a:ln/>
        </p:spPr>
      </p:sp>
      <p:sp>
        <p:nvSpPr>
          <p:cNvPr id="10" name="Text 6"/>
          <p:cNvSpPr/>
          <p:nvPr/>
        </p:nvSpPr>
        <p:spPr>
          <a:xfrm>
            <a:off x="1020604" y="4979432"/>
            <a:ext cx="40151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Include Routers in Main App: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020604" y="546985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Use app.include_router()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1020604" y="5968841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Allows modular structure for your app</a:t>
            </a:r>
            <a:endParaRPr lang="en-US" sz="175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A1D8AA7D-55F2-F1EB-FFA7-8B378A3594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4560" y="228600"/>
            <a:ext cx="777240" cy="6094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05908"/>
            <a:ext cx="82297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Router Example (Item Router)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554849"/>
            <a:ext cx="4196358" cy="2168843"/>
          </a:xfrm>
          <a:prstGeom prst="roundRect">
            <a:avLst>
              <a:gd name="adj" fmla="val 1569"/>
            </a:avLst>
          </a:prstGeom>
          <a:solidFill>
            <a:srgbClr val="F9F7F7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781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Code Overview: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27208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Creating a router for item operations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554849"/>
            <a:ext cx="4196358" cy="2168843"/>
          </a:xfrm>
          <a:prstGeom prst="roundRect">
            <a:avLst>
              <a:gd name="adj" fmla="val 1569"/>
            </a:avLst>
          </a:prstGeom>
          <a:solidFill>
            <a:srgbClr val="F9F7F7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3781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FastAPI Example: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427208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4444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@items_router.get("/")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443776" y="477107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Handles requests for /items/ with item data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554849"/>
            <a:ext cx="4196358" cy="2168843"/>
          </a:xfrm>
          <a:prstGeom prst="roundRect">
            <a:avLst>
              <a:gd name="adj" fmla="val 1569"/>
            </a:avLst>
          </a:prstGeom>
          <a:solidFill>
            <a:srgbClr val="F9F7F7"/>
          </a:solidFill>
          <a:ln/>
        </p:spPr>
      </p:sp>
      <p:sp>
        <p:nvSpPr>
          <p:cNvPr id="11" name="Text 9"/>
          <p:cNvSpPr/>
          <p:nvPr/>
        </p:nvSpPr>
        <p:spPr>
          <a:xfrm>
            <a:off x="9866948" y="3781663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Integration with Main App: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6948" y="462641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app.include_router(items_router, prefix="/items", tags=["Shop Items"])</a:t>
            </a:r>
            <a:endParaRPr lang="en-US" sz="17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0" y="228600"/>
            <a:ext cx="777240" cy="60948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050" y="1398270"/>
            <a:ext cx="5143500" cy="543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0"/>
          <p:cNvSpPr/>
          <p:nvPr/>
        </p:nvSpPr>
        <p:spPr>
          <a:xfrm>
            <a:off x="793790" y="1034534"/>
            <a:ext cx="57276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Main App and Router Integration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279225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60" y="2834759"/>
            <a:ext cx="340162" cy="42529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30906" y="2870121"/>
            <a:ext cx="40411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How Routers Work Together: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1530906" y="3360539"/>
            <a:ext cx="49905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Define endpoints in separate files and include them in the main app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530906" y="4222433"/>
            <a:ext cx="49905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Helps organize and manage multiple sections of the app</a:t>
            </a:r>
            <a:endParaRPr lang="en-US" sz="1750" dirty="0"/>
          </a:p>
        </p:txBody>
      </p:sp>
      <p:sp>
        <p:nvSpPr>
          <p:cNvPr id="10" name="Shape 5"/>
          <p:cNvSpPr/>
          <p:nvPr/>
        </p:nvSpPr>
        <p:spPr>
          <a:xfrm>
            <a:off x="793790" y="54018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11" name="Text 6"/>
          <p:cNvSpPr/>
          <p:nvPr/>
        </p:nvSpPr>
        <p:spPr>
          <a:xfrm>
            <a:off x="1530906" y="54797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FastAPI Example: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530906" y="5970151"/>
            <a:ext cx="49905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4444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app.include_router(items_router, prefix="/items")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530906" y="6469142"/>
            <a:ext cx="49905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4444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Access http://127.0.0.1:8000/items/</a:t>
            </a: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for item-related operations</a:t>
            </a:r>
            <a:endParaRPr lang="en-US" sz="175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7F4D920D-E03A-DEF8-45F2-9900E1D673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24560" y="228600"/>
            <a:ext cx="777240" cy="60948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39428"/>
            <a:ext cx="66636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 and Practice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188369"/>
            <a:ext cx="7556421" cy="2917150"/>
          </a:xfrm>
          <a:prstGeom prst="roundRect">
            <a:avLst>
              <a:gd name="adj" fmla="val 1166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4151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Takeaways: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2905601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HTTP methods (GET, POST, PUT, DELETE) define the actions in an API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07004" y="3710702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Path and query parameters allow flexible and dynamic data retrieval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507004" y="451580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Organizing code with routers is essential for large projects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280190" y="5332333"/>
            <a:ext cx="7556421" cy="1757720"/>
          </a:xfrm>
          <a:prstGeom prst="roundRect">
            <a:avLst>
              <a:gd name="adj" fmla="val 1936"/>
            </a:avLst>
          </a:prstGeom>
          <a:solidFill>
            <a:srgbClr val="F9F7F7"/>
          </a:solidFill>
          <a:ln/>
        </p:spPr>
      </p:sp>
      <p:sp>
        <p:nvSpPr>
          <p:cNvPr id="10" name="Text 7"/>
          <p:cNvSpPr/>
          <p:nvPr/>
        </p:nvSpPr>
        <p:spPr>
          <a:xfrm>
            <a:off x="6507004" y="555914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Next Steps: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507004" y="6058138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Practice creating different types of APIs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507004" y="6500336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Experiment with routers and modular organization in FastAPI</a:t>
            </a:r>
            <a:endParaRPr lang="en-US" sz="17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560" y="228600"/>
            <a:ext cx="777240" cy="6094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900</Words>
  <Application>Microsoft Office PowerPoint</Application>
  <PresentationFormat>Custom</PresentationFormat>
  <Paragraphs>177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Source Serif Pro</vt:lpstr>
      <vt:lpstr>Arial</vt:lpstr>
      <vt:lpstr>Platypi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Sadia Saeed</cp:lastModifiedBy>
  <cp:revision>5</cp:revision>
  <dcterms:created xsi:type="dcterms:W3CDTF">2025-06-05T12:12:39Z</dcterms:created>
  <dcterms:modified xsi:type="dcterms:W3CDTF">2025-06-05T12:18:24Z</dcterms:modified>
</cp:coreProperties>
</file>