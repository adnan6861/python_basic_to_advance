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Platypi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fFMt72BoRF9Lv/hKvemP3RJTV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Medium-bold.fntdata"/><Relationship Id="rId25" Type="http://schemas.openxmlformats.org/officeDocument/2006/relationships/font" Target="fonts/PlatypiMedium-regular.fntdata"/><Relationship Id="rId28" Type="http://schemas.openxmlformats.org/officeDocument/2006/relationships/font" Target="fonts/PlatypiMedium-boldItalic.fntdata"/><Relationship Id="rId27" Type="http://schemas.openxmlformats.org/officeDocument/2006/relationships/font" Target="fonts/Platypi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47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1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4.png"/><Relationship Id="rId5" Type="http://schemas.openxmlformats.org/officeDocument/2006/relationships/image" Target="../media/image31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46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23.png"/><Relationship Id="rId9" Type="http://schemas.openxmlformats.org/officeDocument/2006/relationships/image" Target="../media/image1.png"/><Relationship Id="rId5" Type="http://schemas.openxmlformats.org/officeDocument/2006/relationships/image" Target="../media/image45.png"/><Relationship Id="rId6" Type="http://schemas.openxmlformats.org/officeDocument/2006/relationships/image" Target="../media/image29.png"/><Relationship Id="rId7" Type="http://schemas.openxmlformats.org/officeDocument/2006/relationships/image" Target="../media/image42.png"/><Relationship Id="rId8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27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Relationship Id="rId7" Type="http://schemas.openxmlformats.org/officeDocument/2006/relationships/image" Target="../media/image43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/>
          <p:nvPr/>
        </p:nvSpPr>
        <p:spPr>
          <a:xfrm>
            <a:off x="6280190" y="3023354"/>
            <a:ext cx="602241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Programming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6280190" y="4072295"/>
            <a:ext cx="7556421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22: FastAPI Complex endpoint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"/>
          <p:cNvPicPr preferRelativeResize="0"/>
          <p:nvPr/>
        </p:nvPicPr>
        <p:blipFill rotWithShape="1">
          <a:blip r:embed="rId5">
            <a:alphaModFix/>
          </a:blip>
          <a:srcRect b="12220" l="0" r="0" t="-12219"/>
          <a:stretch/>
        </p:blipFill>
        <p:spPr>
          <a:xfrm>
            <a:off x="6206940" y="5232819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/>
          <p:nvPr/>
        </p:nvSpPr>
        <p:spPr>
          <a:xfrm>
            <a:off x="793790" y="1804154"/>
            <a:ext cx="773072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FastAPI Complex Endpoints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793790" y="296656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1020604" y="31933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Last Lecture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020604" y="368379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Basics and "Hello World" app.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7428667" y="296656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7655481" y="31933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Today's Focus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655481" y="368379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Building more complex endpoints.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93790" y="4500324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020604" y="47271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Approach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1020604" y="5217557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We'll combine previous concepts to enhance functionality.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428667" y="4500324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655481" y="47271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Learning Goal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655481" y="5217557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Learn how to modify, validate, and handle inputs.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93790" y="6062424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793790" y="664250"/>
            <a:ext cx="4873347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300"/>
              <a:buFont typeface="Platypi Medium"/>
              <a:buNone/>
            </a:pPr>
            <a:r>
              <a:rPr lang="en-US" sz="33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 Are We Building?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3790" y="1451015"/>
            <a:ext cx="382667" cy="382667"/>
          </a:xfrm>
          <a:prstGeom prst="roundRect">
            <a:avLst>
              <a:gd fmla="val 66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346478" y="1509474"/>
            <a:ext cx="2572464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Complex POST Endpoint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1346478" y="1877258"/>
            <a:ext cx="5862399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Accept data from user input (POST request).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421523" y="1451015"/>
            <a:ext cx="382667" cy="382667"/>
          </a:xfrm>
          <a:prstGeom prst="roundRect">
            <a:avLst>
              <a:gd fmla="val 66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974211" y="1509474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Server Processing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974211" y="1877258"/>
            <a:ext cx="5862399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Send data to server, process it, and respond.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93790" y="2489597"/>
            <a:ext cx="382667" cy="382667"/>
          </a:xfrm>
          <a:prstGeom prst="roundRect">
            <a:avLst>
              <a:gd fmla="val 66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1346478" y="254805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 Validation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346478" y="2915841"/>
            <a:ext cx="5862399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Handle input validation — avoid accepting wrong or malformed data.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421523" y="2489597"/>
            <a:ext cx="382667" cy="382667"/>
          </a:xfrm>
          <a:prstGeom prst="roundRect">
            <a:avLst>
              <a:gd fmla="val 666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7974211" y="2548057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Platypi Medium"/>
              <a:buNone/>
            </a:pPr>
            <a:r>
              <a:rPr lang="en-US" sz="16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 Library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974211" y="2915841"/>
            <a:ext cx="5862399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validation library: </a:t>
            </a:r>
            <a:r>
              <a:rPr b="1"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Pydantic</a:t>
            </a:r>
            <a:r>
              <a:rPr lang="en-US" sz="13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2647" y="3379351"/>
            <a:ext cx="8465106" cy="4185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793790" y="1007626"/>
            <a:ext cx="624923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Why Input Validation?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93790" y="2056567"/>
            <a:ext cx="7556421" cy="2747129"/>
          </a:xfrm>
          <a:prstGeom prst="roundRect">
            <a:avLst>
              <a:gd fmla="val 123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1020604" y="22833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The Problem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20604" y="2773799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Earlier endpoints accepted any input, including invalid data.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020604" y="327279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We must ensure: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020604" y="3771781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Input is of correct type (e.g., string, not digits).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020604" y="4213979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Input meets format requirements.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93790" y="5030510"/>
            <a:ext cx="7556421" cy="2191345"/>
          </a:xfrm>
          <a:prstGeom prst="roundRect">
            <a:avLst>
              <a:gd fmla="val 155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1020604" y="5257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 Purpose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20604" y="5747742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Prevent errors.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020604" y="618994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Provide meaningful feedback to users.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020604" y="6632138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Ensure API robustness.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6280190" y="627221"/>
            <a:ext cx="7556421" cy="134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lang="en-US" sz="4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Required &amp; Optional Parameters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280190" y="2297192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1033" y="2337614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6980396" y="2371249"/>
            <a:ext cx="3380899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API Parameters as Orders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980396" y="2837021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Parameters = inputs you provide to API.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280190" y="3612713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1033" y="3653135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6980396" y="3686770"/>
            <a:ext cx="275177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Required Parameters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980396" y="4152543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Required parameters must be given.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280190" y="4928235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1033" y="4968657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6980396" y="5002292"/>
            <a:ext cx="2753678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Optional Parameters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980396" y="5468064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Optional parameters may be omitted.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280190" y="6243757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1033" y="6284178"/>
            <a:ext cx="323136" cy="4039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6980396" y="631781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100"/>
              <a:buFont typeface="Platypi Medium"/>
              <a:buNone/>
            </a:pPr>
            <a:r>
              <a:rPr lang="en-US" sz="21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980396" y="6783586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you order food: you must specify dish name (required).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980396" y="7257574"/>
            <a:ext cx="685621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You may optionally specify spice level (optional).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793790" y="759619"/>
            <a:ext cx="6826091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HTTP Exceptions &amp; Pydantic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93790" y="1651278"/>
            <a:ext cx="6425089" cy="1486495"/>
          </a:xfrm>
          <a:prstGeom prst="roundRect">
            <a:avLst>
              <a:gd fmla="val 194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986552" y="1844040"/>
            <a:ext cx="3758922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Importing FastAPI Components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86552" y="2260878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FastAPI class to create API instance.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86552" y="2636639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HTTPException to raise errors with status codes.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411641" y="1651278"/>
            <a:ext cx="6425089" cy="1486495"/>
          </a:xfrm>
          <a:prstGeom prst="roundRect">
            <a:avLst>
              <a:gd fmla="val 194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604403" y="1844040"/>
            <a:ext cx="2719626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Pydantic for Validation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604403" y="2260878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BaseModel to define data models.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604403" y="2636639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Optional for optional fields.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128" y="3354586"/>
            <a:ext cx="7622143" cy="359021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793790" y="7161609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793790" y="646390"/>
            <a:ext cx="5796201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FastAPI &amp; Uvicorn Setup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793790" y="1538049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001" y="1574125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1420297" y="1604248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Standard Setup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420297" y="2021086"/>
            <a:ext cx="3560445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Create FastAPI app instance with metadata: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221724" y="1538049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3935" y="1574125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5848231" y="1604248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Python Code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848231" y="2021086"/>
            <a:ext cx="3560445" cy="92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 = FastAPI( title="Simple Text API", description="A simple API for text processing", version="1.0.0" 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649658" y="1538049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1870" y="1574125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10276165" y="1604248"/>
            <a:ext cx="2486978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Server Configuration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276165" y="2021086"/>
            <a:ext cx="3560445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Uvicorn to run the app.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4684" y="3163014"/>
            <a:ext cx="10161032" cy="389501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793790" y="7274838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82" y="1875460"/>
            <a:ext cx="7580259" cy="4478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8108990" y="1594485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Defining Pydantic Request Model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108990" y="3352205"/>
            <a:ext cx="57276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335804" y="35790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TextRequest Model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335804" y="4069437"/>
            <a:ext cx="52739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Class inherits from BaseModel.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108990" y="4885968"/>
            <a:ext cx="5727621" cy="1749147"/>
          </a:xfrm>
          <a:prstGeom prst="roundRect">
            <a:avLst>
              <a:gd fmla="val 19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335804" y="51127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Fields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335804" y="5603200"/>
            <a:ext cx="52739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text: string (required).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335804" y="6045398"/>
            <a:ext cx="52739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uppercase: boolean (optional, defaults to False).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793790" y="649843"/>
            <a:ext cx="820650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lang="en-US" sz="37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Defining Pydantic Response Model</a:t>
            </a:r>
            <a:endParaRPr sz="3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93790" y="1541502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001" y="1577578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1420297" y="1607701"/>
            <a:ext cx="3257907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TextResponse Model: Fields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435691" y="1541502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903" y="1577578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062198" y="1607701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Processed Text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8062198" y="2024539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processed_text: string.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93790" y="2718435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001" y="2754511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1420297" y="2784634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Text Length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420297" y="3201472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text_length: integer.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435691" y="2718435"/>
            <a:ext cx="433745" cy="433745"/>
          </a:xfrm>
          <a:prstGeom prst="roundRect">
            <a:avLst>
              <a:gd fmla="val 666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" name="Google Shape;23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7903" y="2754511"/>
            <a:ext cx="289203" cy="36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/>
          <p:nvPr/>
        </p:nvSpPr>
        <p:spPr>
          <a:xfrm>
            <a:off x="8062198" y="2784634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Platypi Medium"/>
              <a:buNone/>
            </a:pPr>
            <a:r>
              <a:rPr lang="en-US" sz="185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Purpose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062198" y="3201472"/>
            <a:ext cx="5774412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Describes output structure after processing.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7194" y="3726656"/>
            <a:ext cx="8096012" cy="332791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793790" y="7271385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3" name="Google Shape;243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9" name="Google Shape;2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0"/>
          <p:cNvSpPr/>
          <p:nvPr/>
        </p:nvSpPr>
        <p:spPr>
          <a:xfrm>
            <a:off x="793790" y="144982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Root Endpoint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793790" y="2498765"/>
            <a:ext cx="7556421" cy="2304931"/>
          </a:xfrm>
          <a:prstGeom prst="roundRect">
            <a:avLst>
              <a:gd fmla="val 1476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020604" y="2725579"/>
            <a:ext cx="33576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Basic Welcome Message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020604" y="321599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@app.get("/")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20604" y="3714988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def read_root():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020604" y="4213979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return {"message": "Welcome to our Text Processing API!"}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93790" y="5030510"/>
            <a:ext cx="7556421" cy="1749147"/>
          </a:xfrm>
          <a:prstGeom prst="roundRect">
            <a:avLst>
              <a:gd fmla="val 19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1020604" y="52573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Purpose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020604" y="5747742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Confirm API is running.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020604" y="6189940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Accessible at /.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793790" y="1240869"/>
            <a:ext cx="680037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Creating POST Endpoint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93790" y="228981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33231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1530906" y="2367677"/>
            <a:ext cx="44426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Decorator &amp; Function Signature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530906" y="2858095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@app.post("/process-text/", response_model=TextResponse)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530906" y="3357086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def process_text(request: TextRequest):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860" y="4216122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530906" y="4251484"/>
            <a:ext cx="33086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Endpoint Configuration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530906" y="4741902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POST endpoint named process-text.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93790" y="555843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560093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/>
          <p:nvPr/>
        </p:nvSpPr>
        <p:spPr>
          <a:xfrm>
            <a:off x="1530906" y="563630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530906" y="6126718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Validates input against TextRequest.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530906" y="6625709"/>
            <a:ext cx="123057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Response validated against TextResponse.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793790" y="2715697"/>
            <a:ext cx="761452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Handling Input in Endpoint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93790" y="3764637"/>
            <a:ext cx="13042821" cy="1749147"/>
          </a:xfrm>
          <a:prstGeom prst="roundRect">
            <a:avLst>
              <a:gd fmla="val 19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020604" y="3991451"/>
            <a:ext cx="330672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Accessing Request Data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020604" y="4481870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Get text from request.text.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020604" y="4924068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Get uppercase from request.uppercase.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793790" y="2693789"/>
            <a:ext cx="614838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 Validation Logic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93790" y="374273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78523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/>
          <p:nvPr/>
        </p:nvSpPr>
        <p:spPr>
          <a:xfrm>
            <a:off x="1530906" y="38205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Check Empty Input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1530906" y="4311015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not text: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1530906" y="4810006"/>
            <a:ext cx="56426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44444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raise HTTPException(status_code=400, detail="Text cannot be empty")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7457003" y="374273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074" y="378523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8194119" y="38205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Error Response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8194119" y="4311015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HTTP 400 error if text is empty.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793790" y="271569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Processing Text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793790" y="3764637"/>
            <a:ext cx="13042821" cy="1749147"/>
          </a:xfrm>
          <a:prstGeom prst="roundRect">
            <a:avLst>
              <a:gd fmla="val 1945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020604" y="3991451"/>
            <a:ext cx="478214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Conditional Uppercase Conversion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20604" y="4481870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If uppercase is True, convert text to uppercase.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020604" y="4924068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Else, keep original text.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793790" y="212669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Preparing Response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793790" y="317563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321814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1530906" y="3253502"/>
            <a:ext cx="329112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Create Response Object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530906" y="3743920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response = TextResponse(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530906" y="4242911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processed_text=processed_text,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530906" y="4741902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text_length=len(processed_text)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1530906" y="5240893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1530906" y="5739884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response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7457003" y="317563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074" y="321814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5"/>
          <p:cNvSpPr/>
          <p:nvPr/>
        </p:nvSpPr>
        <p:spPr>
          <a:xfrm>
            <a:off x="8194119" y="32535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Response Content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8194119" y="3743920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Return processed text and its length.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4" name="Google Shape;344;p16"/>
          <p:cNvPicPr preferRelativeResize="0"/>
          <p:nvPr/>
        </p:nvPicPr>
        <p:blipFill rotWithShape="1">
          <a:blip r:embed="rId3">
            <a:alphaModFix/>
          </a:blip>
          <a:srcRect b="6493" l="0" r="0" t="2778"/>
          <a:stretch/>
        </p:blipFill>
        <p:spPr>
          <a:xfrm>
            <a:off x="9144000" y="228600"/>
            <a:ext cx="5486400" cy="746661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/>
          <p:nvPr/>
        </p:nvSpPr>
        <p:spPr>
          <a:xfrm>
            <a:off x="793790" y="1373386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Testing the API - Using Docs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793790" y="3131106"/>
            <a:ext cx="3664863" cy="2191345"/>
          </a:xfrm>
          <a:prstGeom prst="roundRect">
            <a:avLst>
              <a:gd fmla="val 155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020604" y="3357920"/>
            <a:ext cx="3211235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Interactive Documentation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1020604" y="4202668"/>
            <a:ext cx="32112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Access Swagger UI: </a:t>
            </a:r>
            <a:r>
              <a:rPr lang="en-US" sz="1750">
                <a:solidFill>
                  <a:srgbClr val="F44444"/>
                </a:solidFill>
                <a:latin typeface="Arial"/>
                <a:ea typeface="Arial"/>
                <a:cs typeface="Arial"/>
                <a:sym typeface="Arial"/>
              </a:rPr>
              <a:t>http://localhost:8000/docs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4685467" y="3131106"/>
            <a:ext cx="3664863" cy="2191345"/>
          </a:xfrm>
          <a:prstGeom prst="roundRect">
            <a:avLst>
              <a:gd fmla="val 155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4912281" y="33579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Using Try it out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4912281" y="3848338"/>
            <a:ext cx="3211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Enter sample text.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912281" y="4290536"/>
            <a:ext cx="3211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Toggle uppercase option.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912281" y="4732734"/>
            <a:ext cx="32112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Submit POST request.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793790" y="5549265"/>
            <a:ext cx="7556421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1020604" y="577607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Response Viewing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020604" y="6266497"/>
            <a:ext cx="71027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See formatted response with text and length.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793790" y="779621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 Test 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793790" y="1828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Case 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793790" y="252305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56555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7"/>
          <p:cNvSpPr/>
          <p:nvPr/>
        </p:nvSpPr>
        <p:spPr>
          <a:xfrm>
            <a:off x="1530906" y="2600920"/>
            <a:ext cx="19850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1530906" y="3091339"/>
            <a:ext cx="19850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 = "Pakistan", uppercase = False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3799403" y="252305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474" y="256555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7"/>
          <p:cNvSpPr/>
          <p:nvPr/>
        </p:nvSpPr>
        <p:spPr>
          <a:xfrm>
            <a:off x="4536519" y="2600920"/>
            <a:ext cx="19850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4536519" y="3091339"/>
            <a:ext cx="198501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processed_text: "Pakistan"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4536519" y="3953232"/>
            <a:ext cx="19850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text_length: 8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793790" y="46562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Case 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793790" y="535078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539329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7"/>
          <p:cNvSpPr/>
          <p:nvPr/>
        </p:nvSpPr>
        <p:spPr>
          <a:xfrm>
            <a:off x="1530906" y="5428655"/>
            <a:ext cx="19850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1530906" y="5919073"/>
            <a:ext cx="198501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 = "I love my country", uppercase = True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3799403" y="535078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0" name="Google Shape;3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4474" y="5393293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7"/>
          <p:cNvSpPr/>
          <p:nvPr/>
        </p:nvSpPr>
        <p:spPr>
          <a:xfrm>
            <a:off x="4536519" y="5428655"/>
            <a:ext cx="198501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Output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4536519" y="5919073"/>
            <a:ext cx="19850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processed_text: "I LOVE MY COUNTRY"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4536519" y="7087076"/>
            <a:ext cx="19850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text_length: 17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8907" y="959346"/>
            <a:ext cx="7652894" cy="6854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/>
          <p:nvPr/>
        </p:nvSpPr>
        <p:spPr>
          <a:xfrm>
            <a:off x="793790" y="1683187"/>
            <a:ext cx="8364617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of Features Covered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793790" y="284559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8860" y="288809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8"/>
          <p:cNvSpPr/>
          <p:nvPr/>
        </p:nvSpPr>
        <p:spPr>
          <a:xfrm>
            <a:off x="1530906" y="29234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POST Endpoints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1530906" y="3413879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POST endpoints with request body.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7457003" y="284559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074" y="2888099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8"/>
          <p:cNvSpPr/>
          <p:nvPr/>
        </p:nvSpPr>
        <p:spPr>
          <a:xfrm>
            <a:off x="8194119" y="292346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Validation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8194119" y="3413879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Validation with Pydantic models.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793790" y="423041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860" y="427291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8"/>
          <p:cNvSpPr/>
          <p:nvPr/>
        </p:nvSpPr>
        <p:spPr>
          <a:xfrm>
            <a:off x="1530906" y="43082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Parameters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530906" y="4798695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Required vs optional parameters.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7457003" y="423041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074" y="427291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8"/>
          <p:cNvSpPr/>
          <p:nvPr/>
        </p:nvSpPr>
        <p:spPr>
          <a:xfrm>
            <a:off x="8194119" y="43082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Error Handling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8194119" y="4798695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Raising HTTP exceptions for errors.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793790" y="561522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860" y="565773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8"/>
          <p:cNvSpPr/>
          <p:nvPr/>
        </p:nvSpPr>
        <p:spPr>
          <a:xfrm>
            <a:off x="1530906" y="5693093"/>
            <a:ext cx="320432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Conditional Processing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1530906" y="6183511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Conditional processing based on optional input.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7457003" y="5615226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42074" y="5657731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/>
          <p:nvPr/>
        </p:nvSpPr>
        <p:spPr>
          <a:xfrm>
            <a:off x="8194119" y="569309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Response Structure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8194119" y="6183511"/>
            <a:ext cx="5642610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Response validation and structure.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6" name="Google Shape;41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/>
          <p:nvPr/>
        </p:nvSpPr>
        <p:spPr>
          <a:xfrm>
            <a:off x="793790" y="2494598"/>
            <a:ext cx="739509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Preparing for Next Lecture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793790" y="3543538"/>
            <a:ext cx="13042821" cy="2191345"/>
          </a:xfrm>
          <a:prstGeom prst="roundRect">
            <a:avLst>
              <a:gd fmla="val 155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1020604" y="377035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What's Next?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1020604" y="4260771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Connect FastAPI with AI models from earlier lessons.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1020604" y="4702969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Build complete APIs that expose AI capabilities.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020604" y="5145167"/>
            <a:ext cx="125891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this endpoint and prepare for project work.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8" name="Google Shape;4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4" name="Google Shape;4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0"/>
          <p:cNvSpPr/>
          <p:nvPr/>
        </p:nvSpPr>
        <p:spPr>
          <a:xfrm>
            <a:off x="6280190" y="104751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Final Notes</a:t>
            </a:r>
            <a:endParaRPr sz="4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6280190" y="209645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2138958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0"/>
          <p:cNvSpPr/>
          <p:nvPr/>
        </p:nvSpPr>
        <p:spPr>
          <a:xfrm>
            <a:off x="7017306" y="21743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Review Code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7017306" y="2664738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Review code comments carefully.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5260" y="352377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0"/>
          <p:cNvSpPr/>
          <p:nvPr/>
        </p:nvSpPr>
        <p:spPr>
          <a:xfrm>
            <a:off x="7017306" y="35591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Practice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Practice sending POST requests via docs or tools.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490859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0"/>
          <p:cNvSpPr/>
          <p:nvPr/>
        </p:nvSpPr>
        <p:spPr>
          <a:xfrm>
            <a:off x="7017306" y="4943951"/>
            <a:ext cx="300180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Understand Concepts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7017306" y="5434370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Make sure concepts of validation and error handling are clear.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6280190" y="625090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5260" y="629340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0"/>
          <p:cNvSpPr/>
          <p:nvPr/>
        </p:nvSpPr>
        <p:spPr>
          <a:xfrm>
            <a:off x="7017306" y="632876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lang="en-US" sz="2200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Keep Practicing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7017306" y="681918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Keep practicing to build confidence before project.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2025-06-02T12:29:16Z</dcterms:created>
  <dc:creator>PptxGenJS</dc:creator>
</cp:coreProperties>
</file>